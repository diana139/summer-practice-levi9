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74" r:id="rId6"/>
    <p:sldId id="259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O'Hare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pPr>
              <a:solidFill>
                <a:srgbClr val="2A78D6"/>
              </a:solidFill>
            </c:spPr>
          </c:marke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6.9</c:v>
                </c:pt>
                <c:pt idx="2">
                  <c:v>22</c:v>
                </c:pt>
                <c:pt idx="3">
                  <c:v>8.1999999999999993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6C-4FE9-AF67-BAF168D065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Edison Park</c:v>
                </c:pt>
              </c:strCache>
            </c:strRef>
          </c:tx>
          <c:spPr>
            <a:ln w="25400">
              <a:solidFill>
                <a:srgbClr val="EB6834"/>
              </a:solidFill>
            </a:ln>
          </c:spPr>
          <c:marker>
            <c:spPr>
              <a:solidFill>
                <a:srgbClr val="EB6834"/>
              </a:solidFill>
            </c:spPr>
          </c:marke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6.8</c:v>
                </c:pt>
                <c:pt idx="1">
                  <c:v>12</c:v>
                </c:pt>
                <c:pt idx="2">
                  <c:v>19.7</c:v>
                </c:pt>
                <c:pt idx="3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6C-4FE9-AF67-BAF168D065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Norwood Park</c:v>
                </c:pt>
              </c:strCache>
            </c:strRef>
          </c:tx>
          <c:spPr>
            <a:ln w="25400">
              <a:solidFill>
                <a:srgbClr val="1BAF7A"/>
              </a:solidFill>
            </a:ln>
          </c:spPr>
          <c:marker>
            <c:spPr>
              <a:solidFill>
                <a:srgbClr val="1BAF7A"/>
              </a:solidFill>
            </c:spPr>
          </c:marke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4.0999999999999996</c:v>
                </c:pt>
                <c:pt idx="1">
                  <c:v>8.9</c:v>
                </c:pt>
                <c:pt idx="2">
                  <c:v>21</c:v>
                </c:pt>
                <c:pt idx="3">
                  <c:v>6.9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56C-4FE9-AF67-BAF168D06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2024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Duplicate %</c:v>
                </c:pt>
              </c:strCache>
            </c:strRef>
          </c:tx>
          <c:spPr>
            <a:solidFill>
              <a:srgbClr val="2A78D6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0242B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City Vehicle Sticker</c:v>
                </c:pt>
                <c:pt idx="1">
                  <c:v>Traffic Signal Out</c:v>
                </c:pt>
                <c:pt idx="2">
                  <c:v>Open Fire Hydrant</c:v>
                </c:pt>
                <c:pt idx="3">
                  <c:v>Divvy Bike Parking</c:v>
                </c:pt>
                <c:pt idx="4">
                  <c:v>Liquor Est.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35.92</c:v>
                </c:pt>
                <c:pt idx="1">
                  <c:v>40.97</c:v>
                </c:pt>
                <c:pt idx="2">
                  <c:v>43.86</c:v>
                </c:pt>
                <c:pt idx="3">
                  <c:v>45.71</c:v>
                </c:pt>
                <c:pt idx="4">
                  <c:v>45.76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9F5-466C-A4C6-6C49CDB66A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024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 % vs. citywide</c:v>
                </c:pt>
              </c:strCache>
            </c:strRef>
          </c:tx>
          <c:spPr>
            <a:solidFill>
              <a:srgbClr val="2A78D6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E34948"/>
              </a:solidFill>
            </c:spPr>
            <c:extLst>
              <c:ext xmlns:c16="http://schemas.microsoft.com/office/drawing/2014/chart" uri="{C3380CC4-5D6E-409C-BE32-E72D297353CC}">
                <c16:uniqueId val="{00000001-BABD-40C4-9EDE-317C777C0267}"/>
              </c:ext>
            </c:extLst>
          </c:dPt>
          <c:dPt>
            <c:idx val="1"/>
            <c:invertIfNegative val="1"/>
            <c:bubble3D val="0"/>
            <c:spPr>
              <a:solidFill>
                <a:srgbClr val="E34948"/>
              </a:solidFill>
            </c:spPr>
            <c:extLst>
              <c:ext xmlns:c16="http://schemas.microsoft.com/office/drawing/2014/chart" uri="{C3380CC4-5D6E-409C-BE32-E72D297353CC}">
                <c16:uniqueId val="{00000003-BABD-40C4-9EDE-317C777C0267}"/>
              </c:ext>
            </c:extLst>
          </c:dPt>
          <c:dPt>
            <c:idx val="2"/>
            <c:invertIfNegative val="1"/>
            <c:bubble3D val="0"/>
            <c:spPr>
              <a:solidFill>
                <a:srgbClr val="E34948"/>
              </a:solidFill>
            </c:spPr>
            <c:extLst>
              <c:ext xmlns:c16="http://schemas.microsoft.com/office/drawing/2014/chart" uri="{C3380CC4-5D6E-409C-BE32-E72D297353CC}">
                <c16:uniqueId val="{00000005-BABD-40C4-9EDE-317C777C0267}"/>
              </c:ext>
            </c:extLst>
          </c:dPt>
          <c:dPt>
            <c:idx val="3"/>
            <c:invertIfNegative val="1"/>
            <c:bubble3D val="0"/>
            <c:spPr>
              <a:solidFill>
                <a:srgbClr val="E34948"/>
              </a:solidFill>
            </c:spPr>
            <c:extLst>
              <c:ext xmlns:c16="http://schemas.microsoft.com/office/drawing/2014/chart" uri="{C3380CC4-5D6E-409C-BE32-E72D297353CC}">
                <c16:uniqueId val="{00000007-BABD-40C4-9EDE-317C777C0267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BABD-40C4-9EDE-317C777C0267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BABD-40C4-9EDE-317C777C0267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BABD-40C4-9EDE-317C777C0267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BABD-40C4-9EDE-317C777C026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0242B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ward 14</c:v>
                </c:pt>
                <c:pt idx="1">
                  <c:v>ward 12</c:v>
                </c:pt>
                <c:pt idx="2">
                  <c:v>ward 34</c:v>
                </c:pt>
                <c:pt idx="3">
                  <c:v>ward 22</c:v>
                </c:pt>
                <c:pt idx="4">
                  <c:v>ward 15</c:v>
                </c:pt>
                <c:pt idx="5">
                  <c:v>ward 39</c:v>
                </c:pt>
                <c:pt idx="6">
                  <c:v>ward 44</c:v>
                </c:pt>
                <c:pt idx="7">
                  <c:v>ward 43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-17.100000000000001</c:v>
                </c:pt>
                <c:pt idx="1">
                  <c:v>-16.8</c:v>
                </c:pt>
                <c:pt idx="2">
                  <c:v>-15.6</c:v>
                </c:pt>
                <c:pt idx="3">
                  <c:v>-13.9</c:v>
                </c:pt>
                <c:pt idx="4">
                  <c:v>16.8</c:v>
                </c:pt>
                <c:pt idx="5">
                  <c:v>30.4</c:v>
                </c:pt>
                <c:pt idx="6">
                  <c:v>34.9</c:v>
                </c:pt>
                <c:pt idx="7">
                  <c:v>43.3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BABD-40C4-9EDE-317C777C02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024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AECEF"/>
                </a:solidFill>
                <a:latin typeface="Calibri"/>
              </a:rPr>
              <a:t>Chicago 311 Service Requests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FAEDC"/>
                </a:solidFill>
                <a:latin typeface="Calibri"/>
              </a:rPr>
              <a:t>Airflow  -  dbt  -  DuckDB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A649E-675A-9FD3-5B9B-76040E997A29}"/>
              </a:ext>
            </a:extLst>
          </p:cNvPr>
          <p:cNvSpPr txBox="1"/>
          <p:nvPr/>
        </p:nvSpPr>
        <p:spPr>
          <a:xfrm>
            <a:off x="9173497" y="5135900"/>
            <a:ext cx="2413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ROSU DIANA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4839466" cy="13542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800" b="1" i="0" dirty="0">
                <a:solidFill>
                  <a:srgbClr val="E9EDF1"/>
                </a:solidFill>
                <a:effectLst/>
                <a:latin typeface="Big Shoulders Display"/>
              </a:rPr>
              <a:t>The </a:t>
            </a:r>
            <a:r>
              <a:rPr lang="en-US" sz="2800" b="1" i="0" dirty="0">
                <a:solidFill>
                  <a:srgbClr val="6FAEDC"/>
                </a:solidFill>
                <a:effectLst/>
                <a:latin typeface="Big Shoulders Display"/>
              </a:rPr>
              <a:t>assignment's</a:t>
            </a:r>
            <a:r>
              <a:rPr lang="en-US" sz="2800" b="1" i="0" dirty="0">
                <a:solidFill>
                  <a:srgbClr val="E9EDF1"/>
                </a:solidFill>
                <a:effectLst/>
                <a:latin typeface="Big Shoulders Display"/>
              </a:rPr>
              <a:t> requirements</a:t>
            </a:r>
          </a:p>
          <a:p>
            <a:br>
              <a:rPr lang="en-US" sz="2800" dirty="0"/>
            </a:br>
            <a:endParaRPr sz="2600" b="1" dirty="0">
              <a:solidFill>
                <a:srgbClr val="EAECE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59" y="4521200"/>
            <a:ext cx="110029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700" dirty="0">
                <a:solidFill>
                  <a:srgbClr val="EAECEF"/>
                </a:solidFill>
                <a:latin typeface="Calibri"/>
              </a:rPr>
              <a:t>-  An incremental data pipeline - Apache Airflow for orchestration, </a:t>
            </a:r>
            <a:r>
              <a:rPr sz="1700" dirty="0" err="1">
                <a:solidFill>
                  <a:srgbClr val="EAECEF"/>
                </a:solidFill>
                <a:latin typeface="Calibri"/>
              </a:rPr>
              <a:t>DuckDB</a:t>
            </a:r>
            <a:r>
              <a:rPr sz="1700" dirty="0">
                <a:solidFill>
                  <a:srgbClr val="EAECEF"/>
                </a:solidFill>
                <a:latin typeface="Calibri"/>
              </a:rPr>
              <a:t> as the local warehouse, </a:t>
            </a:r>
            <a:r>
              <a:rPr sz="1700" dirty="0" err="1">
                <a:solidFill>
                  <a:srgbClr val="EAECEF"/>
                </a:solidFill>
                <a:latin typeface="Calibri"/>
              </a:rPr>
              <a:t>dbt</a:t>
            </a:r>
            <a:r>
              <a:rPr sz="1700" dirty="0">
                <a:solidFill>
                  <a:srgbClr val="EAECEF"/>
                </a:solidFill>
                <a:latin typeface="Calibri"/>
              </a:rPr>
              <a:t> for transformation and testing - that ingests Chicago's 311 Service Requests from the Socrata open-data API, models them into a star schema, and answers one operational question: where is the city falling behind on service response times, and is it getting better or worse?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2308C6-A2B5-53B1-EEDD-EEFA8E808927}"/>
              </a:ext>
            </a:extLst>
          </p:cNvPr>
          <p:cNvSpPr txBox="1"/>
          <p:nvPr/>
        </p:nvSpPr>
        <p:spPr>
          <a:xfrm>
            <a:off x="1109757" y="1071483"/>
            <a:ext cx="10441858" cy="378404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600" b="1" i="0" cap="all" dirty="0">
                <a:solidFill>
                  <a:srgbClr val="6C7684"/>
                </a:solidFill>
                <a:effectLst/>
                <a:latin typeface="+mj-lt"/>
              </a:rPr>
              <a:t>Common (any dataset)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Airflow + </a:t>
            </a:r>
            <a:r>
              <a:rPr lang="en-US" sz="1600" b="0" i="0" dirty="0" err="1">
                <a:solidFill>
                  <a:srgbClr val="E9EDF1"/>
                </a:solidFill>
                <a:effectLst/>
                <a:latin typeface="+mj-lt"/>
              </a:rPr>
              <a:t>DuckDB</a:t>
            </a: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 + </a:t>
            </a:r>
            <a:r>
              <a:rPr lang="en-US" sz="1600" b="0" i="0" dirty="0" err="1">
                <a:solidFill>
                  <a:srgbClr val="E9EDF1"/>
                </a:solidFill>
                <a:effectLst/>
                <a:latin typeface="+mj-lt"/>
              </a:rPr>
              <a:t>dbt</a:t>
            </a: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, staging → marts structure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At least one SCD Type 2 dimension, via </a:t>
            </a:r>
            <a:r>
              <a:rPr lang="en-US" sz="1600" b="0" i="0" dirty="0" err="1">
                <a:solidFill>
                  <a:srgbClr val="E9EDF1"/>
                </a:solidFill>
                <a:effectLst/>
                <a:latin typeface="+mj-lt"/>
              </a:rPr>
              <a:t>dbt</a:t>
            </a: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 snapshot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5+ </a:t>
            </a:r>
            <a:r>
              <a:rPr lang="en-US" sz="1600" b="0" i="0" dirty="0" err="1">
                <a:solidFill>
                  <a:srgbClr val="E9EDF1"/>
                </a:solidFill>
                <a:effectLst/>
                <a:latin typeface="+mj-lt"/>
              </a:rPr>
              <a:t>dbt</a:t>
            </a: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 tests: </a:t>
            </a:r>
            <a:r>
              <a:rPr lang="en-US" sz="1600" b="0" i="0" dirty="0" err="1">
                <a:solidFill>
                  <a:srgbClr val="E9EDF1"/>
                </a:solidFill>
                <a:effectLst/>
                <a:latin typeface="+mj-lt"/>
              </a:rPr>
              <a:t>not_null</a:t>
            </a: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, unique, relationships, + custom SQL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DAG with 4+ stages, retries, idempotent, fails 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on critical validation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Written documentation, weighted equally with the code</a:t>
            </a:r>
          </a:p>
          <a:p>
            <a:pPr algn="l">
              <a:lnSpc>
                <a:spcPct val="150000"/>
              </a:lnSpc>
            </a:pPr>
            <a:endParaRPr lang="en-US" sz="1600" b="1" i="0" cap="all" dirty="0">
              <a:solidFill>
                <a:srgbClr val="6C7684"/>
              </a:solidFill>
              <a:effectLst/>
              <a:latin typeface="+mj-lt"/>
            </a:endParaRPr>
          </a:p>
          <a:p>
            <a:pPr algn="l">
              <a:lnSpc>
                <a:spcPct val="150000"/>
              </a:lnSpc>
            </a:pPr>
            <a:endParaRPr lang="en-US" sz="1600" b="1" cap="all" dirty="0">
              <a:solidFill>
                <a:srgbClr val="6C7684"/>
              </a:solidFill>
              <a:latin typeface="+mj-lt"/>
            </a:endParaRPr>
          </a:p>
          <a:p>
            <a:pPr algn="l">
              <a:lnSpc>
                <a:spcPct val="150000"/>
              </a:lnSpc>
            </a:pPr>
            <a:endParaRPr lang="en-US" sz="1600" b="1" i="0" cap="all" dirty="0">
              <a:solidFill>
                <a:srgbClr val="6C7684"/>
              </a:solidFill>
              <a:effectLst/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sz="1600" b="1" i="0" cap="all" dirty="0">
                <a:solidFill>
                  <a:srgbClr val="6C7684"/>
                </a:solidFill>
                <a:effectLst/>
                <a:latin typeface="+mj-lt"/>
              </a:rPr>
              <a:t>Specific to Chicago 311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Real incremental extraction (</a:t>
            </a:r>
            <a:r>
              <a:rPr lang="en-US" sz="1600" b="0" i="0" dirty="0" err="1">
                <a:solidFill>
                  <a:srgbClr val="E9EDF1"/>
                </a:solidFill>
                <a:effectLst/>
                <a:latin typeface="+mj-lt"/>
              </a:rPr>
              <a:t>created_date</a:t>
            </a: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&gt;:cursor)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Watermark in a </a:t>
            </a:r>
            <a:r>
              <a:rPr lang="en-US" sz="1600" b="0" i="0" dirty="0" err="1">
                <a:solidFill>
                  <a:srgbClr val="E9EDF1"/>
                </a:solidFill>
                <a:effectLst/>
                <a:latin typeface="+mj-lt"/>
              </a:rPr>
              <a:t>DuckDB</a:t>
            </a: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 control table, not an Airflow Variable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Text normalization (status, </a:t>
            </a:r>
            <a:r>
              <a:rPr lang="en-US" sz="1600" b="0" i="0" dirty="0" err="1">
                <a:solidFill>
                  <a:srgbClr val="E9EDF1"/>
                </a:solidFill>
                <a:effectLst/>
                <a:latin typeface="+mj-lt"/>
              </a:rPr>
              <a:t>sr_type</a:t>
            </a: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, </a:t>
            </a:r>
            <a:r>
              <a:rPr lang="en-US" sz="1600" b="0" i="0" dirty="0" err="1">
                <a:solidFill>
                  <a:srgbClr val="E9EDF1"/>
                </a:solidFill>
                <a:effectLst/>
                <a:latin typeface="+mj-lt"/>
              </a:rPr>
              <a:t>sr_short_code</a:t>
            </a: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Incremental fact table, merge on </a:t>
            </a:r>
            <a:r>
              <a:rPr lang="en-US" sz="1600" b="0" i="0" dirty="0" err="1">
                <a:solidFill>
                  <a:srgbClr val="E9EDF1"/>
                </a:solidFill>
                <a:effectLst/>
                <a:latin typeface="+mj-lt"/>
              </a:rPr>
              <a:t>sr_number</a:t>
            </a:r>
            <a:endParaRPr lang="en-US" sz="1600" b="0" i="0" dirty="0">
              <a:solidFill>
                <a:srgbClr val="E9EDF1"/>
              </a:solidFill>
              <a:effectLst/>
              <a:latin typeface="+mj-lt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dim_wardSCD2 — correct historical ward attribution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9EDF1"/>
                </a:solidFill>
                <a:effectLst/>
                <a:latin typeface="+mj-lt"/>
              </a:rPr>
              <a:t>Register a free Socrata app token as an Airflow Connection to avoid rate limiting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33481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</a:rPr>
              <a:t>Star Schema </a:t>
            </a:r>
            <a:r>
              <a:rPr sz="2400" b="1" dirty="0">
                <a:solidFill>
                  <a:srgbClr val="EAECEF"/>
                </a:solidFill>
                <a:latin typeface="Calibri"/>
              </a:rPr>
              <a:t>- Gold Layer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1577340" y="1897380"/>
            <a:ext cx="4503420" cy="1600200"/>
          </a:xfrm>
          <a:prstGeom prst="line">
            <a:avLst/>
          </a:prstGeom>
          <a:ln w="12700">
            <a:solidFill>
              <a:srgbClr val="454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80760" y="2171700"/>
            <a:ext cx="4549140" cy="1325880"/>
          </a:xfrm>
          <a:prstGeom prst="line">
            <a:avLst/>
          </a:prstGeom>
          <a:ln w="12700">
            <a:solidFill>
              <a:srgbClr val="454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577340" y="3497580"/>
            <a:ext cx="4503420" cy="1828800"/>
          </a:xfrm>
          <a:prstGeom prst="line">
            <a:avLst/>
          </a:prstGeom>
          <a:ln w="12700">
            <a:solidFill>
              <a:srgbClr val="454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3497580"/>
            <a:ext cx="4549140" cy="1554480"/>
          </a:xfrm>
          <a:prstGeom prst="line">
            <a:avLst/>
          </a:prstGeom>
          <a:ln w="12700">
            <a:solidFill>
              <a:srgbClr val="454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3497580"/>
            <a:ext cx="0" cy="2103120"/>
          </a:xfrm>
          <a:prstGeom prst="line">
            <a:avLst/>
          </a:prstGeom>
          <a:ln w="12700">
            <a:solidFill>
              <a:srgbClr val="454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434840" y="1458468"/>
            <a:ext cx="3291840" cy="3113532"/>
          </a:xfrm>
          <a:prstGeom prst="rect">
            <a:avLst/>
          </a:prstGeom>
          <a:solidFill>
            <a:srgbClr val="F3F4F6"/>
          </a:solidFill>
          <a:ln w="15875">
            <a:solidFill>
              <a:srgbClr val="6FA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sz="1100" b="1" dirty="0">
                <a:solidFill>
                  <a:srgbClr val="6FAEDC"/>
                </a:solidFill>
                <a:latin typeface="Calibri"/>
              </a:rPr>
              <a:t>fct_311_requests  </a:t>
            </a:r>
            <a:r>
              <a:rPr lang="en-US" sz="1100" b="1" dirty="0">
                <a:solidFill>
                  <a:srgbClr val="6FAEDC"/>
                </a:solidFill>
                <a:latin typeface="Calibri"/>
              </a:rPr>
              <a:t>(7M millions)</a:t>
            </a:r>
            <a:endParaRPr sz="1100" b="1" dirty="0">
              <a:solidFill>
                <a:srgbClr val="6FAEDC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sr_id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(PK)          </a:t>
            </a:r>
            <a:endParaRPr lang="en-US"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sr_short_code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(FK)</a:t>
            </a: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service_request_type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  </a:t>
            </a:r>
            <a:endParaRPr lang="en-US"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>
                <a:solidFill>
                  <a:srgbClr val="20242B"/>
                </a:solidFill>
                <a:latin typeface="Consolas"/>
              </a:rPr>
              <a:t>status   </a:t>
            </a:r>
            <a:endParaRPr lang="en-US"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>
                <a:solidFill>
                  <a:srgbClr val="20242B"/>
                </a:solidFill>
                <a:latin typeface="Consolas"/>
              </a:rPr>
              <a:t>origin</a:t>
            </a: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created_date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 </a:t>
            </a:r>
            <a:r>
              <a:rPr lang="en-US" sz="850" dirty="0">
                <a:solidFill>
                  <a:srgbClr val="20242B"/>
                </a:solidFill>
                <a:latin typeface="Consolas"/>
              </a:rPr>
              <a:t>/ _</a:t>
            </a:r>
            <a:r>
              <a:rPr sz="850" dirty="0">
                <a:solidFill>
                  <a:srgbClr val="20242B"/>
                </a:solidFill>
                <a:latin typeface="Consolas"/>
              </a:rPr>
              <a:t>day (FK)</a:t>
            </a: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last_modified_date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</a:t>
            </a:r>
            <a:r>
              <a:rPr lang="en-US" sz="850" dirty="0">
                <a:solidFill>
                  <a:srgbClr val="20242B"/>
                </a:solidFill>
                <a:latin typeface="Consolas"/>
              </a:rPr>
              <a:t>/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_day (FK)</a:t>
            </a: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closed_date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/ _day (FK)</a:t>
            </a: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location_id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(FK)   </a:t>
            </a:r>
            <a:endParaRPr lang="en-US"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community_area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(FK)</a:t>
            </a:r>
          </a:p>
          <a:p>
            <a:pPr>
              <a:spcBef>
                <a:spcPts val="100"/>
              </a:spcBef>
            </a:pPr>
            <a:r>
              <a:rPr sz="850" dirty="0">
                <a:solidFill>
                  <a:srgbClr val="20242B"/>
                </a:solidFill>
                <a:latin typeface="Consolas"/>
              </a:rPr>
              <a:t>ward (FK)   </a:t>
            </a:r>
            <a:endParaRPr lang="en-US"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>
                <a:solidFill>
                  <a:srgbClr val="20242B"/>
                </a:solidFill>
                <a:latin typeface="Consolas"/>
              </a:rPr>
              <a:t>duplicate   </a:t>
            </a:r>
            <a:endParaRPr lang="en-US"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legacy_record</a:t>
            </a:r>
            <a:endParaRPr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parent_sr_number</a:t>
            </a:r>
            <a:endParaRPr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ward_map_version_at_request</a:t>
            </a:r>
            <a:endParaRPr sz="850" dirty="0">
              <a:solidFill>
                <a:srgbClr val="20242B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1480" y="1371600"/>
            <a:ext cx="2331720" cy="1051560"/>
          </a:xfrm>
          <a:prstGeom prst="rect">
            <a:avLst/>
          </a:prstGeom>
          <a:solidFill>
            <a:srgbClr val="F3F4F6"/>
          </a:solidFill>
          <a:ln w="15875">
            <a:solidFill>
              <a:srgbClr val="6FA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sz="1100" b="1">
                <a:solidFill>
                  <a:srgbClr val="6FAEDC"/>
                </a:solidFill>
                <a:latin typeface="Calibri"/>
              </a:rPr>
              <a:t>dim_service_request_type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20242B"/>
                </a:solidFill>
                <a:latin typeface="Consolas"/>
              </a:rPr>
              <a:t>sr_short_code (PK)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20242B"/>
                </a:solidFill>
                <a:latin typeface="Consolas"/>
              </a:rPr>
              <a:t>service_request_type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1325880"/>
            <a:ext cx="2331720" cy="1691640"/>
          </a:xfrm>
          <a:prstGeom prst="rect">
            <a:avLst/>
          </a:prstGeom>
          <a:solidFill>
            <a:srgbClr val="F3F4F6"/>
          </a:solidFill>
          <a:ln w="15875">
            <a:solidFill>
              <a:srgbClr val="6FA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sz="1100" b="1" dirty="0" err="1">
                <a:solidFill>
                  <a:srgbClr val="6FAEDC"/>
                </a:solidFill>
                <a:latin typeface="Calibri"/>
              </a:rPr>
              <a:t>dim_location</a:t>
            </a:r>
            <a:r>
              <a:rPr sz="1100" b="1" dirty="0">
                <a:solidFill>
                  <a:srgbClr val="6FAEDC"/>
                </a:solidFill>
                <a:latin typeface="Calibri"/>
              </a:rPr>
              <a:t>  (~788,535)</a:t>
            </a: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location_id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(PK)</a:t>
            </a: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street_number</a:t>
            </a:r>
            <a:endParaRPr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street_direction</a:t>
            </a:r>
            <a:endParaRPr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street_name</a:t>
            </a:r>
            <a:endParaRPr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street_type</a:t>
            </a:r>
            <a:endParaRPr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>
                <a:solidFill>
                  <a:srgbClr val="20242B"/>
                </a:solidFill>
                <a:latin typeface="Consolas"/>
              </a:rPr>
              <a:t>city   </a:t>
            </a:r>
            <a:endParaRPr lang="en-US"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>
                <a:solidFill>
                  <a:srgbClr val="20242B"/>
                </a:solidFill>
                <a:latin typeface="Consolas"/>
              </a:rPr>
              <a:t>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800600"/>
            <a:ext cx="2331720" cy="1051560"/>
          </a:xfrm>
          <a:prstGeom prst="rect">
            <a:avLst/>
          </a:prstGeom>
          <a:solidFill>
            <a:srgbClr val="F3F4F6"/>
          </a:solidFill>
          <a:ln w="15875">
            <a:solidFill>
              <a:srgbClr val="6FA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sz="1100" b="1">
                <a:solidFill>
                  <a:srgbClr val="6FAEDC"/>
                </a:solidFill>
                <a:latin typeface="Calibri"/>
              </a:rPr>
              <a:t>dim_community_area  (77)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20242B"/>
                </a:solidFill>
                <a:latin typeface="Consolas"/>
              </a:rPr>
              <a:t>community_area (PK)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20242B"/>
                </a:solidFill>
                <a:latin typeface="Consolas"/>
              </a:rPr>
              <a:t>community_area_name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64040" y="4069080"/>
            <a:ext cx="2331720" cy="1965960"/>
          </a:xfrm>
          <a:prstGeom prst="rect">
            <a:avLst/>
          </a:prstGeom>
          <a:solidFill>
            <a:srgbClr val="F3F4F6"/>
          </a:solidFill>
          <a:ln w="15875">
            <a:solidFill>
              <a:srgbClr val="6FA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sz="1100" b="1" dirty="0" err="1">
                <a:solidFill>
                  <a:srgbClr val="6FAEDC"/>
                </a:solidFill>
                <a:latin typeface="Calibri"/>
              </a:rPr>
              <a:t>dim_date</a:t>
            </a:r>
            <a:r>
              <a:rPr sz="1100" b="1" dirty="0">
                <a:solidFill>
                  <a:srgbClr val="6FAEDC"/>
                </a:solidFill>
                <a:latin typeface="Calibri"/>
              </a:rPr>
              <a:t>  (5,844)</a:t>
            </a: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date_day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(PK)</a:t>
            </a:r>
          </a:p>
          <a:p>
            <a:pPr>
              <a:spcBef>
                <a:spcPts val="100"/>
              </a:spcBef>
            </a:pPr>
            <a:r>
              <a:rPr sz="850" dirty="0">
                <a:solidFill>
                  <a:srgbClr val="20242B"/>
                </a:solidFill>
                <a:latin typeface="Consolas"/>
              </a:rPr>
              <a:t>year   </a:t>
            </a:r>
            <a:endParaRPr lang="en-US"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>
                <a:solidFill>
                  <a:srgbClr val="20242B"/>
                </a:solidFill>
                <a:latin typeface="Consolas"/>
              </a:rPr>
              <a:t>quarter   </a:t>
            </a:r>
            <a:endParaRPr lang="en-US"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>
                <a:solidFill>
                  <a:srgbClr val="20242B"/>
                </a:solidFill>
                <a:latin typeface="Consolas"/>
              </a:rPr>
              <a:t>month</a:t>
            </a: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month_name</a:t>
            </a:r>
            <a:endParaRPr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day_of_week</a:t>
            </a:r>
            <a:r>
              <a:rPr sz="850" dirty="0">
                <a:solidFill>
                  <a:srgbClr val="20242B"/>
                </a:solidFill>
                <a:latin typeface="Consolas"/>
              </a:rPr>
              <a:t> </a:t>
            </a:r>
            <a:endParaRPr lang="en-US"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is_weekend</a:t>
            </a:r>
            <a:endParaRPr sz="850" dirty="0">
              <a:solidFill>
                <a:srgbClr val="20242B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850" dirty="0" err="1">
                <a:solidFill>
                  <a:srgbClr val="20242B"/>
                </a:solidFill>
                <a:latin typeface="Consolas"/>
              </a:rPr>
              <a:t>day_of_year</a:t>
            </a:r>
            <a:endParaRPr sz="850" dirty="0">
              <a:solidFill>
                <a:srgbClr val="20242B"/>
              </a:solidFill>
              <a:latin typeface="Consola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434840" y="4800600"/>
            <a:ext cx="3291840" cy="1600200"/>
          </a:xfrm>
          <a:prstGeom prst="rect">
            <a:avLst/>
          </a:prstGeom>
          <a:solidFill>
            <a:srgbClr val="F3F4F6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40000" rIns="60000" bIns="40000" rtlCol="0" anchor="ctr"/>
          <a:lstStyle/>
          <a:p>
            <a:pPr algn="ctr"/>
            <a:r>
              <a:rPr sz="1100" b="1">
                <a:solidFill>
                  <a:srgbClr val="B04A10"/>
                </a:solidFill>
                <a:latin typeface="Calibri"/>
              </a:rPr>
              <a:t>dim_ward - SCD2  (100)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20242B"/>
                </a:solidFill>
                <a:latin typeface="Consolas"/>
              </a:rPr>
              <a:t>ward (PK)   map_version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20242B"/>
                </a:solidFill>
                <a:latin typeface="Consolas"/>
              </a:rPr>
              <a:t>dbt_scd_id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20242B"/>
                </a:solidFill>
                <a:latin typeface="Consolas"/>
              </a:rPr>
              <a:t>dbt_updated_at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20242B"/>
                </a:solidFill>
                <a:latin typeface="Consolas"/>
              </a:rPr>
              <a:t>dbt_valid_from / dbt_valid_to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88635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</a:rPr>
              <a:t>Left in Silver</a:t>
            </a:r>
            <a:endParaRPr sz="2600" b="1" dirty="0">
              <a:solidFill>
                <a:schemeClr val="tx2">
                  <a:lumMod val="40000"/>
                  <a:lumOff val="60000"/>
                </a:schemeClr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C79133-2794-7318-6709-ABFFCF1B2FBD}"/>
              </a:ext>
            </a:extLst>
          </p:cNvPr>
          <p:cNvSpPr/>
          <p:nvPr/>
        </p:nvSpPr>
        <p:spPr>
          <a:xfrm>
            <a:off x="894080" y="1818640"/>
            <a:ext cx="10403840" cy="40233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008C44-26D7-FE9F-BAE1-ED4ADD9E243E}"/>
              </a:ext>
            </a:extLst>
          </p:cNvPr>
          <p:cNvSpPr txBox="1"/>
          <p:nvPr/>
        </p:nvSpPr>
        <p:spPr>
          <a:xfrm>
            <a:off x="995680" y="2008754"/>
            <a:ext cx="9953674" cy="338554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b="1" dirty="0" err="1"/>
              <a:t>Administrativ</a:t>
            </a:r>
            <a:r>
              <a:rPr lang="en-US" b="1" dirty="0"/>
              <a:t> </a:t>
            </a:r>
          </a:p>
          <a:p>
            <a:r>
              <a:rPr lang="en-US" sz="1600" dirty="0"/>
              <a:t>  - </a:t>
            </a:r>
            <a:r>
              <a:rPr lang="en-US" sz="1600" dirty="0" err="1"/>
              <a:t>owner_department</a:t>
            </a:r>
            <a:r>
              <a:rPr lang="en-US" sz="1600" dirty="0"/>
              <a:t>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</a:t>
            </a:r>
            <a:r>
              <a:rPr lang="en-US" sz="1600" dirty="0" err="1"/>
              <a:t>created_department</a:t>
            </a:r>
            <a:r>
              <a:rPr lang="en-US" sz="1600" dirty="0"/>
              <a:t>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</a:t>
            </a:r>
            <a:r>
              <a:rPr lang="en-US" b="1" dirty="0" err="1"/>
              <a:t>Adresă</a:t>
            </a:r>
            <a:r>
              <a:rPr lang="en-US" b="1" dirty="0"/>
              <a:t> </a:t>
            </a:r>
            <a:r>
              <a:rPr lang="en-US" b="1" dirty="0" err="1"/>
              <a:t>brută</a:t>
            </a:r>
            <a:r>
              <a:rPr lang="en-US" b="1" dirty="0"/>
              <a:t>                                                                                                                                                                      </a:t>
            </a:r>
            <a:endParaRPr lang="en-US" sz="1600" b="1" dirty="0"/>
          </a:p>
          <a:p>
            <a:r>
              <a:rPr lang="en-US" sz="1600" dirty="0"/>
              <a:t>  - </a:t>
            </a:r>
            <a:r>
              <a:rPr lang="en-US" sz="1600" dirty="0" err="1"/>
              <a:t>street_address</a:t>
            </a:r>
            <a:r>
              <a:rPr lang="en-US" sz="1600" dirty="0"/>
              <a:t> </a:t>
            </a:r>
          </a:p>
          <a:p>
            <a:r>
              <a:rPr lang="en-US" sz="1600" dirty="0"/>
              <a:t>  - </a:t>
            </a:r>
            <a:r>
              <a:rPr lang="en-US" sz="1600" dirty="0" err="1"/>
              <a:t>zip_code</a:t>
            </a:r>
            <a:r>
              <a:rPr lang="en-US" sz="1600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</a:t>
            </a:r>
            <a:r>
              <a:rPr lang="en-US" b="1" dirty="0" err="1"/>
              <a:t>Poliție</a:t>
            </a:r>
            <a:r>
              <a:rPr lang="en-US" b="1" dirty="0"/>
              <a:t>  </a:t>
            </a:r>
            <a:r>
              <a:rPr lang="en-US" sz="1600" dirty="0"/>
              <a:t>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</a:t>
            </a:r>
            <a:r>
              <a:rPr lang="en-US" sz="1600" dirty="0" err="1"/>
              <a:t>police_sector</a:t>
            </a:r>
            <a:r>
              <a:rPr lang="en-US" sz="1600" dirty="0"/>
              <a:t>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</a:t>
            </a:r>
            <a:r>
              <a:rPr lang="en-US" sz="1600" dirty="0" err="1"/>
              <a:t>police_district</a:t>
            </a:r>
            <a:endParaRPr lang="en-US" sz="1600" dirty="0"/>
          </a:p>
          <a:p>
            <a:r>
              <a:rPr lang="en-US" sz="1600" dirty="0"/>
              <a:t>- </a:t>
            </a:r>
            <a:r>
              <a:rPr lang="en-US" sz="1600" dirty="0" err="1"/>
              <a:t>police_beat</a:t>
            </a:r>
            <a:r>
              <a:rPr lang="en-US" sz="1600" dirty="0"/>
              <a:t>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precinct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</a:t>
            </a:r>
            <a:r>
              <a:rPr lang="en-US" sz="1600" dirty="0" err="1"/>
              <a:t>electrical_district</a:t>
            </a:r>
            <a:r>
              <a:rPr lang="en-US" sz="1600" dirty="0"/>
              <a:t>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</a:t>
            </a:r>
            <a:r>
              <a:rPr lang="en-US" sz="1600" dirty="0" err="1"/>
              <a:t>electricity_grid</a:t>
            </a:r>
            <a:r>
              <a:rPr lang="en-US" sz="1600" dirty="0"/>
              <a:t>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</a:t>
            </a:r>
            <a:r>
              <a:rPr lang="en-US" b="1" dirty="0" err="1"/>
              <a:t>Coordonate</a:t>
            </a:r>
            <a:r>
              <a:rPr lang="en-US" sz="1600" dirty="0"/>
              <a:t>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</a:t>
            </a:r>
            <a:r>
              <a:rPr lang="en-US" sz="1600" dirty="0" err="1"/>
              <a:t>x_coordinate</a:t>
            </a:r>
            <a:r>
              <a:rPr lang="en-US" sz="1600" dirty="0"/>
              <a:t>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</a:t>
            </a:r>
            <a:r>
              <a:rPr lang="en-US" sz="1600" dirty="0" err="1"/>
              <a:t>y_coordinate</a:t>
            </a:r>
            <a:r>
              <a:rPr lang="en-US" sz="1600" dirty="0"/>
              <a:t>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latitude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longitude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b="1" dirty="0"/>
              <a:t>  </a:t>
            </a:r>
            <a:r>
              <a:rPr lang="en-US" b="1" dirty="0" err="1"/>
              <a:t>Timp</a:t>
            </a:r>
            <a:r>
              <a:rPr lang="en-US" b="1" dirty="0"/>
              <a:t> </a:t>
            </a:r>
            <a:r>
              <a:rPr lang="en-US" b="1" dirty="0" err="1"/>
              <a:t>derivat</a:t>
            </a:r>
            <a:r>
              <a:rPr lang="en-US" b="1" dirty="0"/>
              <a:t> din </a:t>
            </a:r>
            <a:r>
              <a:rPr lang="en-US" b="1" dirty="0" err="1"/>
              <a:t>sursă</a:t>
            </a:r>
            <a:r>
              <a:rPr lang="en-US" b="1" dirty="0"/>
              <a:t>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</a:t>
            </a:r>
            <a:r>
              <a:rPr lang="en-US" sz="1600" dirty="0" err="1"/>
              <a:t>created_hour</a:t>
            </a:r>
            <a:r>
              <a:rPr lang="en-US" sz="1600" dirty="0"/>
              <a:t>                                                                                                                                                                    </a:t>
            </a:r>
          </a:p>
          <a:p>
            <a:r>
              <a:rPr lang="en-US" sz="1600" dirty="0"/>
              <a:t>  - </a:t>
            </a:r>
            <a:r>
              <a:rPr lang="en-US" sz="1600" dirty="0" err="1"/>
              <a:t>created_day_of_week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749894-5B90-CBA7-A531-9DFF335B5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2615637"/>
            <a:ext cx="3740172" cy="162672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71D7B7-0E77-1014-72FE-DDAD8B28A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292" y="2721595"/>
            <a:ext cx="3882867" cy="14148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F90FEDB-3F6D-EDA2-CA52-C1A72B007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6233" y="1689981"/>
            <a:ext cx="3232247" cy="347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EAECEF"/>
                </a:solidFill>
                <a:latin typeface="Calibri"/>
              </a:rPr>
              <a:t>How Airflow, </a:t>
            </a:r>
            <a:r>
              <a:rPr sz="2200" b="1" dirty="0" err="1">
                <a:solidFill>
                  <a:srgbClr val="EAECEF"/>
                </a:solidFill>
                <a:latin typeface="Calibri"/>
              </a:rPr>
              <a:t>DuckDB</a:t>
            </a:r>
            <a:r>
              <a:rPr sz="2200" b="1" dirty="0">
                <a:solidFill>
                  <a:srgbClr val="EAECEF"/>
                </a:solidFill>
                <a:latin typeface="Calibri"/>
              </a:rPr>
              <a:t>, and </a:t>
            </a:r>
            <a:r>
              <a:rPr sz="2200" b="1" dirty="0" err="1">
                <a:solidFill>
                  <a:srgbClr val="EAECEF"/>
                </a:solidFill>
                <a:latin typeface="Calibri"/>
              </a:rPr>
              <a:t>dbt</a:t>
            </a:r>
            <a:r>
              <a:rPr sz="2200" b="1" dirty="0">
                <a:solidFill>
                  <a:srgbClr val="EAECEF"/>
                </a:solidFill>
                <a:latin typeface="Calibri"/>
              </a:rPr>
              <a:t> connect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41E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41E"/>
                          </a:solidFill>
                          <a:latin typeface="Calibri"/>
                        </a:rPr>
                        <a:t>Schema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41E"/>
                          </a:solidFill>
                          <a:latin typeface="Calibri"/>
                        </a:rPr>
                        <a:t>Table(s)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1. extract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bronze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extraction_control  (watermark: source, last_run_date - updated after every page)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2. load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bronze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raw_service_requests  (upsert: delete by sr_number, insert)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3. dbt_seed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bronze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community_areas, ward_versions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4. transform_staging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stg_311_requests  (view)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5. dbt_snapshot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gold / silver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dim_ward (SCD2), snap_service_requests_status (SCD2)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6. transform_marts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gold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fct_311_requests, dim_service_request_type, dim_location, dim_community_area, dim_date, and the 3 marts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7. validate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reads everything above - no new table, runs dbt test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8. dbt_docs_generate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AECEF"/>
                          </a:solidFill>
                          <a:latin typeface="Calibri"/>
                        </a:rPr>
                        <a:t>reads everything above - no new table, refreshes docs/lineage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AECEF"/>
                </a:solidFill>
                <a:latin typeface="Calibri"/>
              </a:rPr>
              <a:t>dim_ward: the history of a map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2331720"/>
            <a:ext cx="9784080" cy="0"/>
          </a:xfrm>
          <a:prstGeom prst="line">
            <a:avLst/>
          </a:prstGeom>
          <a:ln w="12700">
            <a:solidFill>
              <a:srgbClr val="454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673352" y="2267712"/>
            <a:ext cx="128016" cy="128016"/>
          </a:xfrm>
          <a:prstGeom prst="ellipse">
            <a:avLst/>
          </a:prstGeom>
          <a:solidFill>
            <a:srgbClr val="A3A9B3"/>
          </a:solidFill>
          <a:ln w="19050">
            <a:solidFill>
              <a:srgbClr val="1B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6479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AECEF"/>
                </a:solidFill>
                <a:latin typeface="Consolas"/>
              </a:rPr>
              <a:t>2015-01-01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7802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A3A9B3"/>
                </a:solidFill>
                <a:latin typeface="Calibri"/>
              </a:rPr>
              <a:t>old_map</a:t>
            </a:r>
          </a:p>
        </p:txBody>
      </p:sp>
      <p:sp>
        <p:nvSpPr>
          <p:cNvPr id="11" name="Oval 10"/>
          <p:cNvSpPr/>
          <p:nvPr/>
        </p:nvSpPr>
        <p:spPr>
          <a:xfrm>
            <a:off x="6016752" y="2267712"/>
            <a:ext cx="128016" cy="128016"/>
          </a:xfrm>
          <a:prstGeom prst="ellipse">
            <a:avLst/>
          </a:prstGeom>
          <a:solidFill>
            <a:srgbClr val="EB6834"/>
          </a:solidFill>
          <a:ln w="19050">
            <a:solidFill>
              <a:srgbClr val="1B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176479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AECEF"/>
                </a:solidFill>
                <a:latin typeface="Consolas"/>
              </a:rPr>
              <a:t>2023-05-15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47802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A3A9B3"/>
                </a:solidFill>
                <a:latin typeface="Calibri"/>
              </a:rPr>
              <a:t>redistricting</a:t>
            </a:r>
          </a:p>
        </p:txBody>
      </p:sp>
      <p:sp>
        <p:nvSpPr>
          <p:cNvPr id="14" name="Oval 13"/>
          <p:cNvSpPr/>
          <p:nvPr/>
        </p:nvSpPr>
        <p:spPr>
          <a:xfrm>
            <a:off x="10360152" y="2267712"/>
            <a:ext cx="128016" cy="128016"/>
          </a:xfrm>
          <a:prstGeom prst="ellipse">
            <a:avLst/>
          </a:prstGeom>
          <a:solidFill>
            <a:srgbClr val="6FAEDC"/>
          </a:solidFill>
          <a:ln w="19050">
            <a:solidFill>
              <a:srgbClr val="1B1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176479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AECEF"/>
                </a:solidFill>
                <a:latin typeface="Consolas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47802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A3A9B3"/>
                </a:solidFill>
                <a:latin typeface="Calibri"/>
              </a:rPr>
              <a:t>new_map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5148" y="1261873"/>
            <a:ext cx="2606040" cy="365760"/>
          </a:xfrm>
          <a:prstGeom prst="roundRect">
            <a:avLst/>
          </a:prstGeom>
          <a:solidFill>
            <a:srgbClr val="252931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chemeClr val="bg1"/>
                </a:solidFill>
                <a:latin typeface="Calibri"/>
              </a:rPr>
              <a:t>pipeline started here (2026)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46120"/>
            <a:ext cx="5440680" cy="2651760"/>
          </a:xfrm>
          <a:prstGeom prst="rect">
            <a:avLst/>
          </a:prstGeom>
          <a:solidFill>
            <a:srgbClr val="252931"/>
          </a:solidFill>
          <a:ln w="9525">
            <a:solidFill>
              <a:srgbClr val="454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bIns="50000" rtlCol="0" anchor="ctr"/>
          <a:lstStyle/>
          <a:p>
            <a:pPr algn="ctr"/>
            <a:r>
              <a:rPr sz="1100" b="1">
                <a:solidFill>
                  <a:srgbClr val="6FAEDC"/>
                </a:solidFill>
                <a:latin typeface="Consolas"/>
              </a:rPr>
              <a:t>The problem</a:t>
            </a:r>
          </a:p>
          <a:p>
            <a:r>
              <a:rPr sz="1050">
                <a:solidFill>
                  <a:srgbClr val="EAECEF"/>
                </a:solidFill>
                <a:latin typeface="Calibri"/>
              </a:rPr>
              <a:t>A live dbt snapshot can only observe the current state - it can't retroactively produce the old_map -&gt; new_map transition.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246120"/>
            <a:ext cx="5440680" cy="2651760"/>
          </a:xfrm>
          <a:prstGeom prst="rect">
            <a:avLst/>
          </a:prstGeom>
          <a:solidFill>
            <a:srgbClr val="252931"/>
          </a:solidFill>
          <a:ln w="9525">
            <a:solidFill>
              <a:srgbClr val="454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0000" bIns="50000" rtlCol="0" anchor="ctr"/>
          <a:lstStyle/>
          <a:p>
            <a:pPr algn="ctr"/>
            <a:r>
              <a:rPr sz="1100" b="1">
                <a:solidFill>
                  <a:srgbClr val="6FAEDC"/>
                </a:solidFill>
                <a:latin typeface="Consolas"/>
              </a:rPr>
              <a:t>The fix</a:t>
            </a:r>
          </a:p>
          <a:p>
            <a:r>
              <a:rPr sz="1050">
                <a:solidFill>
                  <a:srgbClr val="EAECEF"/>
                </a:solidFill>
                <a:latin typeface="Calibri"/>
              </a:rPr>
              <a:t>A one-time backfill script inserted pre-2023 history matching dbt's own SCD2 schema. Join uses dbt_valid_from &lt;= created_date &lt; dbt_valid_to.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EAECEF"/>
                </a:solidFill>
                <a:latin typeface="Calibri"/>
              </a:rPr>
              <a:t>snap_service_requests_status: the history of a request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24F7CA-471B-FAAC-3E5C-4EFDB0713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03" y="1581912"/>
            <a:ext cx="11013928" cy="36455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AECEF"/>
                </a:solidFill>
                <a:latin typeface="Calibri"/>
              </a:rPr>
              <a:t>Folder Layout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solidFill>
            <a:srgbClr val="25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rtlCol="0" anchor="ctr"/>
          <a:lstStyle/>
          <a:p>
            <a:pPr algn="ctr"/>
            <a:r>
              <a:rPr sz="1250" dirty="0">
                <a:solidFill>
                  <a:srgbClr val="6FAEDC"/>
                </a:solidFill>
                <a:latin typeface="Consolas"/>
              </a:rPr>
              <a:t>  dags/ingest_dag.py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  -   The Airflow DAG - all 8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rtlCol="0" anchor="ctr"/>
          <a:lstStyle/>
          <a:p>
            <a:pPr algn="ctr"/>
            <a:r>
              <a:rPr sz="1250" dirty="0">
                <a:solidFill>
                  <a:srgbClr val="6FAEDC"/>
                </a:solidFill>
                <a:latin typeface="Consolas"/>
              </a:rPr>
              <a:t> </a:t>
            </a:r>
            <a:r>
              <a:rPr sz="1250" dirty="0" err="1">
                <a:solidFill>
                  <a:srgbClr val="6FAEDC"/>
                </a:solidFill>
                <a:latin typeface="Consolas"/>
              </a:rPr>
              <a:t>dbt_project</a:t>
            </a:r>
            <a:r>
              <a:rPr sz="1250" dirty="0">
                <a:solidFill>
                  <a:srgbClr val="6FAEDC"/>
                </a:solidFill>
                <a:latin typeface="Consolas"/>
              </a:rPr>
              <a:t>/models/staging/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  -   stg_311_requests - clean/typed, no business logic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solidFill>
            <a:srgbClr val="25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rtlCol="0" anchor="ctr"/>
          <a:lstStyle/>
          <a:p>
            <a:pPr algn="ctr"/>
            <a:r>
              <a:rPr sz="1250" dirty="0">
                <a:solidFill>
                  <a:srgbClr val="6FAEDC"/>
                </a:solidFill>
                <a:latin typeface="Consolas"/>
              </a:rPr>
              <a:t>  </a:t>
            </a:r>
            <a:r>
              <a:rPr sz="1250" dirty="0" err="1">
                <a:solidFill>
                  <a:srgbClr val="6FAEDC"/>
                </a:solidFill>
                <a:latin typeface="Consolas"/>
              </a:rPr>
              <a:t>dbt_project</a:t>
            </a:r>
            <a:r>
              <a:rPr sz="1250" dirty="0">
                <a:solidFill>
                  <a:srgbClr val="6FAEDC"/>
                </a:solidFill>
                <a:latin typeface="Consolas"/>
              </a:rPr>
              <a:t>/models/marts/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  -   Dimensions, fact table, 3 deliverable marts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rtlCol="0" anchor="ctr"/>
          <a:lstStyle/>
          <a:p>
            <a:pPr algn="ctr"/>
            <a:r>
              <a:rPr sz="1250" dirty="0">
                <a:solidFill>
                  <a:srgbClr val="6FAEDC"/>
                </a:solidFill>
                <a:latin typeface="Consolas"/>
              </a:rPr>
              <a:t>  </a:t>
            </a:r>
            <a:r>
              <a:rPr sz="1250" dirty="0" err="1">
                <a:solidFill>
                  <a:srgbClr val="6FAEDC"/>
                </a:solidFill>
                <a:latin typeface="Consolas"/>
              </a:rPr>
              <a:t>dbt_project</a:t>
            </a:r>
            <a:r>
              <a:rPr sz="1250" dirty="0">
                <a:solidFill>
                  <a:srgbClr val="6FAEDC"/>
                </a:solidFill>
                <a:latin typeface="Consolas"/>
              </a:rPr>
              <a:t>/snapshots/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  -   SCD2: </a:t>
            </a:r>
            <a:r>
              <a:rPr sz="1200" dirty="0" err="1">
                <a:solidFill>
                  <a:srgbClr val="EAECEF"/>
                </a:solidFill>
                <a:latin typeface="Calibri"/>
              </a:rPr>
              <a:t>dim_ward</a:t>
            </a:r>
            <a:r>
              <a:rPr sz="1200" dirty="0">
                <a:solidFill>
                  <a:srgbClr val="EAECEF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EAECEF"/>
                </a:solidFill>
                <a:latin typeface="Calibri"/>
              </a:rPr>
              <a:t>snap_service_requests_status</a:t>
            </a:r>
            <a:endParaRPr sz="1200" dirty="0">
              <a:solidFill>
                <a:srgbClr val="EAECE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11064240" cy="457200"/>
          </a:xfrm>
          <a:prstGeom prst="rect">
            <a:avLst/>
          </a:prstGeom>
          <a:solidFill>
            <a:srgbClr val="25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rtlCol="0" anchor="ctr"/>
          <a:lstStyle/>
          <a:p>
            <a:pPr algn="ctr"/>
            <a:r>
              <a:rPr sz="1250" dirty="0">
                <a:solidFill>
                  <a:srgbClr val="6FAEDC"/>
                </a:solidFill>
                <a:latin typeface="Consolas"/>
              </a:rPr>
              <a:t>  </a:t>
            </a:r>
            <a:r>
              <a:rPr sz="1250" dirty="0" err="1">
                <a:solidFill>
                  <a:srgbClr val="6FAEDC"/>
                </a:solidFill>
                <a:latin typeface="Consolas"/>
              </a:rPr>
              <a:t>dbt_project</a:t>
            </a:r>
            <a:r>
              <a:rPr sz="1250" dirty="0">
                <a:solidFill>
                  <a:srgbClr val="6FAEDC"/>
                </a:solidFill>
                <a:latin typeface="Consolas"/>
              </a:rPr>
              <a:t>/seeds/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  -   community_areas.csv, ward_versions.csv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rtlCol="0" anchor="ctr"/>
          <a:lstStyle/>
          <a:p>
            <a:pPr algn="ctr"/>
            <a:r>
              <a:rPr sz="1250" dirty="0">
                <a:solidFill>
                  <a:srgbClr val="6FAEDC"/>
                </a:solidFill>
                <a:latin typeface="Consolas"/>
              </a:rPr>
              <a:t>  </a:t>
            </a:r>
            <a:r>
              <a:rPr sz="1250" dirty="0" err="1">
                <a:solidFill>
                  <a:srgbClr val="6FAEDC"/>
                </a:solidFill>
                <a:latin typeface="Consolas"/>
              </a:rPr>
              <a:t>dbt_project</a:t>
            </a:r>
            <a:r>
              <a:rPr sz="1250" dirty="0">
                <a:solidFill>
                  <a:srgbClr val="6FAEDC"/>
                </a:solidFill>
                <a:latin typeface="Consolas"/>
              </a:rPr>
              <a:t>/tests/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  -   Custom SQL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11064240" cy="457200"/>
          </a:xfrm>
          <a:prstGeom prst="rect">
            <a:avLst/>
          </a:prstGeom>
          <a:solidFill>
            <a:srgbClr val="25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rtlCol="0" anchor="ctr"/>
          <a:lstStyle/>
          <a:p>
            <a:pPr algn="ctr"/>
            <a:r>
              <a:rPr sz="1250" dirty="0">
                <a:solidFill>
                  <a:srgbClr val="6FAEDC"/>
                </a:solidFill>
                <a:latin typeface="Consolas"/>
              </a:rPr>
              <a:t>  scripts/backfill_dim_ward.py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  -   One-time SCD2 backfill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rtlCol="0" anchor="ctr"/>
          <a:lstStyle/>
          <a:p>
            <a:pPr algn="ctr"/>
            <a:r>
              <a:rPr sz="1250" dirty="0">
                <a:solidFill>
                  <a:srgbClr val="6FAEDC"/>
                </a:solidFill>
                <a:latin typeface="Consolas"/>
              </a:rPr>
              <a:t>  raw/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  -   Landed Parquet files (git-ignored)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solidFill>
            <a:srgbClr val="25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rtlCol="0" anchor="ctr"/>
          <a:lstStyle/>
          <a:p>
            <a:pPr algn="ctr"/>
            <a:r>
              <a:rPr sz="1250" dirty="0">
                <a:solidFill>
                  <a:srgbClr val="6FAEDC"/>
                </a:solidFill>
                <a:latin typeface="Consolas"/>
              </a:rPr>
              <a:t>  </a:t>
            </a:r>
            <a:r>
              <a:rPr sz="1250" dirty="0" err="1">
                <a:solidFill>
                  <a:srgbClr val="6FAEDC"/>
                </a:solidFill>
                <a:latin typeface="Consolas"/>
              </a:rPr>
              <a:t>warehouse.duckdb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  -   The </a:t>
            </a:r>
            <a:r>
              <a:rPr sz="1200" dirty="0" err="1">
                <a:solidFill>
                  <a:srgbClr val="EAECEF"/>
                </a:solidFill>
                <a:latin typeface="Calibri"/>
              </a:rPr>
              <a:t>DuckDB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database file (git-ignored)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rtlCol="0" anchor="ctr"/>
          <a:lstStyle/>
          <a:p>
            <a:pPr algn="ctr"/>
            <a:r>
              <a:rPr sz="1250" dirty="0">
                <a:solidFill>
                  <a:srgbClr val="6FAEDC"/>
                </a:solidFill>
                <a:latin typeface="Consolas"/>
              </a:rPr>
              <a:t>  docker-</a:t>
            </a:r>
            <a:r>
              <a:rPr sz="1250" dirty="0" err="1">
                <a:solidFill>
                  <a:srgbClr val="6FAEDC"/>
                </a:solidFill>
                <a:latin typeface="Consolas"/>
              </a:rPr>
              <a:t>compose.yml</a:t>
            </a:r>
            <a:r>
              <a:rPr sz="1250" dirty="0">
                <a:solidFill>
                  <a:srgbClr val="6FAEDC"/>
                </a:solidFill>
                <a:latin typeface="Consolas"/>
              </a:rPr>
              <a:t>, </a:t>
            </a:r>
            <a:r>
              <a:rPr sz="1250" dirty="0" err="1">
                <a:solidFill>
                  <a:srgbClr val="6FAEDC"/>
                </a:solidFill>
                <a:latin typeface="Consolas"/>
              </a:rPr>
              <a:t>Dockerfile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  -   Airflow + Postgres; image built once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252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rtlCol="0" anchor="ctr"/>
          <a:lstStyle/>
          <a:p>
            <a:pPr algn="ctr"/>
            <a:r>
              <a:rPr sz="1250" dirty="0">
                <a:solidFill>
                  <a:srgbClr val="6FAEDC"/>
                </a:solidFill>
                <a:latin typeface="Consolas"/>
              </a:rPr>
              <a:t>  docs/, README.md</a:t>
            </a:r>
            <a:r>
              <a:rPr sz="1200" dirty="0">
                <a:solidFill>
                  <a:srgbClr val="EAECEF"/>
                </a:solidFill>
                <a:latin typeface="Calibri"/>
              </a:rPr>
              <a:t>   -   Documentation and run instructions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AECEF"/>
                </a:solidFill>
                <a:latin typeface="Calibri"/>
              </a:rPr>
              <a:t>Successful Pipeline Run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A0BF26-AA34-5F05-E31A-8152D6CD4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67" y="1371600"/>
            <a:ext cx="11643360" cy="47678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AECEF"/>
                </a:solidFill>
                <a:latin typeface="Calibri"/>
              </a:rPr>
              <a:t>dbt Lineage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CC4D2C-B97B-A52D-4C66-3535DEE11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67" y="1172810"/>
            <a:ext cx="11643360" cy="53194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AECEF"/>
                </a:solidFill>
                <a:latin typeface="Calibri"/>
              </a:rPr>
              <a:t>Tests Implemented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Why it exists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unique / not_null: sr_id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Primary key of every request - must be unique and present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not_null: created_date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Drives incremental logic and every date-based mart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accepted_values: status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Domain rule - catches a new, unmapped source value immediately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lat/long within Chicago bbox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Custom SQL test - catches geocoding errors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closed_date &gt;= created_date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warn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Custom SQL test - 1 known legacy row violates this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not_null: community_area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warn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Known dirty data (~0.1% of rows) from the source itself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relationships: location_id -&gt; dim_location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warn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Known incomplete/ungeocoded addresses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relationships: sr_short_code -&gt; dim_service_request_type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Every fact row must resolve to a known type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unique/not_null on every dimension key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Dimension natural/surrogate key integrity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6392" y="187443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EAECEF"/>
                </a:solidFill>
                <a:latin typeface="Calibri"/>
              </a:rPr>
              <a:t>Q1 - Pothole / Graffiti Resolution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863" y="725431"/>
            <a:ext cx="114279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i="1" dirty="0">
                <a:solidFill>
                  <a:schemeClr val="bg1"/>
                </a:solidFill>
                <a:latin typeface="Calibri"/>
              </a:rPr>
              <a:t>Which community areas have the slowest median resolution time, and has it improved or worsened year-over-year?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539496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O'Hare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8.2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22.0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8.2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10.9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Edison Park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19.7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10.1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Norwood Park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4.1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8.9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21.0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8.6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91072" y="1627632"/>
            <a:ext cx="5431536" cy="4242816"/>
          </a:xfrm>
          <a:prstGeom prst="rect">
            <a:avLst/>
          </a:prstGeom>
          <a:solidFill>
            <a:srgbClr val="F3F4F6"/>
          </a:solidFill>
          <a:ln w="12700">
            <a:solidFill>
              <a:srgbClr val="454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0" y="173736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AECEF"/>
                </a:solidFill>
                <a:latin typeface="Calibri"/>
              </a:rPr>
              <a:t>Q2 - Duplicate / Reopened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666" y="796635"/>
            <a:ext cx="116722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i="1" dirty="0">
                <a:solidFill>
                  <a:schemeClr val="bg1"/>
                </a:solidFill>
                <a:latin typeface="Calibri"/>
              </a:rPr>
              <a:t>Which request types have the highest ratio of reopened/duplicate complaints (same location, same type, within a short window)?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Request type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141E"/>
                          </a:solidFill>
                          <a:latin typeface="Calibri"/>
                        </a:rPr>
                        <a:t>Dup %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Liquor Establishment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295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45.8%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Divvy Bike Parking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11,658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45.7%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Open Fire Hydrant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25,014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43.9%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Traffic Signal Out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96,859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41.0%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City Vehicle Sticker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16,395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AECEF"/>
                          </a:solidFill>
                          <a:latin typeface="Calibri"/>
                        </a:rPr>
                        <a:t>35.9%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91072" y="1627632"/>
            <a:ext cx="5431536" cy="4242816"/>
          </a:xfrm>
          <a:prstGeom prst="rect">
            <a:avLst/>
          </a:prstGeom>
          <a:solidFill>
            <a:srgbClr val="F3F4F6"/>
          </a:solidFill>
          <a:ln w="12700">
            <a:solidFill>
              <a:srgbClr val="454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0" y="173736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4640" y="27432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AECEF"/>
                </a:solidFill>
                <a:latin typeface="Calibri"/>
              </a:rPr>
              <a:t>Q3 - Ward Volumes Across the Redistricting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640" y="686907"/>
            <a:ext cx="11744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i="1" dirty="0">
                <a:solidFill>
                  <a:schemeClr val="bg1"/>
                </a:solidFill>
                <a:latin typeface="Calibri"/>
              </a:rPr>
              <a:t>Do ward-level volumes differ when attributed to the ward in effect at the time vs. the current map, across the 2023 redistricting?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942013"/>
              </p:ext>
            </p:extLst>
          </p:nvPr>
        </p:nvGraphicFramePr>
        <p:xfrm>
          <a:off x="548640" y="1737360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41E"/>
                          </a:solidFill>
                          <a:latin typeface="Calibri"/>
                        </a:rPr>
                        <a:t>Ward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B141E"/>
                          </a:solidFill>
                          <a:latin typeface="Calibri"/>
                        </a:rPr>
                        <a:t>old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B141E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B141E"/>
                          </a:solidFill>
                          <a:latin typeface="Calibri"/>
                        </a:rPr>
                        <a:t>Excess</a:t>
                      </a:r>
                    </a:p>
                  </a:txBody>
                  <a:tcPr>
                    <a:solidFill>
                      <a:srgbClr val="6FA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29.8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51.5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+43.3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20.7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34.1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+34.9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39.3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63.0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+30.4</a:t>
                      </a:r>
                    </a:p>
                  </a:txBody>
                  <a:tcPr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52.1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AECEF"/>
                          </a:solidFill>
                          <a:latin typeface="Calibri"/>
                        </a:rPr>
                        <a:t>58.7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EAECEF"/>
                          </a:solidFill>
                          <a:latin typeface="Calibri"/>
                        </a:rPr>
                        <a:t>-17.1</a:t>
                      </a:r>
                    </a:p>
                  </a:txBody>
                  <a:tcPr>
                    <a:solidFill>
                      <a:srgbClr val="252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91072" y="1627632"/>
            <a:ext cx="5431536" cy="4242816"/>
          </a:xfrm>
          <a:prstGeom prst="rect">
            <a:avLst/>
          </a:prstGeom>
          <a:solidFill>
            <a:srgbClr val="F3F4F6"/>
          </a:solidFill>
          <a:ln w="12700">
            <a:solidFill>
              <a:srgbClr val="454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0" y="173736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5360" y="2289659"/>
            <a:ext cx="536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EAECEF"/>
                </a:solidFill>
                <a:latin typeface="Calibri"/>
              </a:rPr>
              <a:t>What didn’t work initially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1351</Words>
  <Application>Microsoft Office PowerPoint</Application>
  <PresentationFormat>Widescreen</PresentationFormat>
  <Paragraphs>251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Big Shoulders Display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diana rosu</cp:lastModifiedBy>
  <cp:revision>3</cp:revision>
  <dcterms:created xsi:type="dcterms:W3CDTF">2013-01-27T09:14:16Z</dcterms:created>
  <dcterms:modified xsi:type="dcterms:W3CDTF">2026-08-26T10:32:30Z</dcterms:modified>
  <cp:category/>
</cp:coreProperties>
</file>