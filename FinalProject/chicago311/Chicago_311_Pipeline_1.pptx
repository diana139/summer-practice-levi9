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duplicate rate</c:v>
                </c:pt>
              </c:strCache>
            </c:strRef>
          </c:tx>
          <c:spPr>
            <a:solidFill>
              <a:srgbClr val="E8913A"/>
            </a:solidFill>
            <a:effectLst/>
          </c:spPr>
          <c:invertIfNegative val="0"/>
          <c:dLbls>
            <c:numFmt formatCode="0.0&quot;%&quot;" sourceLinked="0"/>
            <c:txPr>
              <a:bodyPr/>
              <a:lstStyle/>
              <a:p>
                <a:pPr>
                  <a:defRPr b="0" i="0" strike="noStrike" sz="900" u="none">
                    <a:solidFill>
                      <a:srgbClr val="EDEBE7"/>
                    </a:solidFill>
                    <a:latin typeface="Courier New"/>
                  </a:defRPr>
                </a:pPr>
              </a:p>
            </c:txPr>
            <c:showLegendKey val="0"/>
            <c:showVal val="1"/>
            <c:showCatName val="0"/>
            <c:showSerName val="0"/>
            <c:showPercent val="0"/>
            <c:showBubbleSize val="0"/>
            <c:showLeaderLines val="0"/>
          </c:dLbls>
          <c:cat>
            <c:multiLvlStrRef>
              <c:f>Sheet1!$A$2:$A$5</c:f>
              <c:multiLvlStrCache>
                <c:ptCount val="4"/>
                <c:lvl>
                  <c:pt idx="0">
                    <c:v>Traffic Signal Out</c:v>
                  </c:pt>
                  <c:pt idx="1">
                    <c:v>Open Fire Hydrant</c:v>
                  </c:pt>
                  <c:pt idx="2">
                    <c:v>Divvy Bike Parking</c:v>
                  </c:pt>
                  <c:pt idx="3">
                    <c:v>Liquor Establishment</c:v>
                  </c:pt>
                </c:lvl>
              </c:multiLvlStrCache>
            </c:multiLvlStrRef>
          </c:cat>
          <c:val>
            <c:numRef>
              <c:f>Sheet1!$B$2:$B$5</c:f>
              <c:numCache>
                <c:formatCode>General</c:formatCode>
                <c:ptCount val="4"/>
                <c:pt idx="0">
                  <c:v>41</c:v>
                </c:pt>
                <c:pt idx="1">
                  <c:v>43.9</c:v>
                </c:pt>
                <c:pt idx="2">
                  <c:v>45.7</c:v>
                </c:pt>
                <c:pt idx="3">
                  <c:v>45.8</c:v>
                </c:pt>
              </c:numCache>
            </c:numRef>
          </c:val>
        </c:ser>
        <c:dLbls>
          <c:numFmt formatCode="0.0&quot;%&quot;" sourceLinked="0"/>
          <c:txPr>
            <a:bodyPr/>
            <a:lstStyle/>
            <a:p>
              <a:pPr>
                <a:defRPr b="0" i="0" strike="noStrike" sz="900" u="none">
                  <a:solidFill>
                    <a:srgbClr val="EDEBE7"/>
                  </a:solidFill>
                  <a:latin typeface="Courier New"/>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00" b="0" i="0" u="none" strike="noStrike">
                <a:solidFill>
                  <a:srgbClr val="9AA1A8"/>
                </a:solidFill>
                <a:latin typeface="Arial"/>
              </a:defRPr>
            </a:pPr>
            <a:endParaRPr lang="en-US"/>
          </a:p>
        </c:txPr>
        <c:crossAx val="2094734552"/>
        <c:crosses val="autoZero"/>
        <c:auto val="1"/>
        <c:lblAlgn val="ctr"/>
        <c:noMultiLvlLbl val="1"/>
      </c:catAx>
      <c:valAx>
        <c:axId val="2094734552"/>
        <c:scaling>
          <c:orientation val="minMax"/>
          <c:max val="54"/>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16181C"/>
        </a:solidFill>
        <a:ln>
          <a:noFill/>
        </a:ln>
        <a:effectLst/>
      </c:spPr>
    </c:plotArea>
    <c:plotVisOnly val="1"/>
    <c:dispBlanksAs val="span"/>
  </c:chart>
  <c:spPr>
    <a:solidFill>
      <a:srgbClr val="16181C"/>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framing before I start. This is the final project: an end-to-end pipeline on Chicago's public 311 dataset — every complaint the city receives.
About seven million rows, pulled incrementally from the Socrata API, landed in DuckDB, modeled with dbt, scheduled by Airflow.
I want to spend most of the time on the parts that were actually hard — the SCD2 dimension and the things that broke — so the architecture sections will be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city's 311 log — potholes, graffiti, broken street lights, rodent complaints. It's public and it updates constantly, which is what makes incremental extraction a real problem rather than a pretend one.
The one choice worth flagging is the start date. I could have pulled the whole archive back to 2018, but paginating twelve million rows to prove a point wasn't the point. 2023 onward still covers both sides of the redistricting, which is what the SCD2 requirement needs.
On the right is the brief, condensed. I'll show where each piece landed as I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medallion split, so I'll be quick.
Bronze is what came out of the API, plus two seed tables I maintain by hand. Silver is one staging model that does the boring work — trim, cast, normalize — plus a status snapshot. Gold is the star schema and the three marts, one per question I had to answer.
The Docker line at the bottom looks like a footnote but it came out of a real annoyance — I'll come back to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tasks. Extract pages the API 50,000 rows at a time using the stored watermark, and writes each page to Parquet. Load does a delete-then-insert on the incoming sr_numbers, so re-running a day never duplicates anything.
The bit I'd point at is task five. dbt run is split in two, with the snapshot in the middle, because the fact table joins to dim_ward and dim_ward is a snapshot. Get that order wrong and the marts build against yesterday's history.
max_active_runs=1 isn't a style choice — DuckDB only allows one writer, so two overlapping runs would just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star. The fact table is one row per service request; the dimensions are the things you'd want to slice by.
Two things I'd point out. dim_location is huge — nearly 800,000 rows — because the grain is the exact address, not a neighbourhood. And dim_ward doesn't join on ward number alone; it joins on the ward number and the date range that boundary was valid for. That's the next slide.
The line at the bottom is a habit I picked up here: I queried for variants before writing the case statement. There was exactly one real one in status and none at all in sr_type. Writing defensive mapping for variants that don't exist is just code you now have to maintain.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I'd want to be asked about.
Chicago redrew its ward map in May 2023. If you attribute a 2023 complaint to the ward it falls in today, the number is wrong — the boundary moved underneath it. So dim_ward is SCD2: fifty wards, two eras, a hundred rows, and the join carries a validity interval.
The catch nobody warns you about: a dbt snapshot can only capture change it witnesses. My pipeline started in 2026, long after the redistricting, so there was no history to snapshot. I wrote a one-time backfill that inserts the pre-2023 rows in dbt's own snapshot schema — after that, every run is just a normal snapshot.
There's a second snapshot on request status, using strategy=check, so a row is only versioned on a real status change rather than every field edit.
On the tests: the number matters less than the severities. I only let something warn when I'd gone and looked at the offending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one mart each.
Q1 — median days to close potholes and graffiti, by community area. All three of the slowest areas improved into 2026; Montclare went from nine and a half days to six and a half. I compute the direction in SQL with LAG rather than printing two columns and hoping.
Q2 — repeats at the same location and type inside fourteen days. Around 45% for the top few types. This is where the self-join blew up, and where I found the data artifact.
Q3 — this one needs a caveat and I'd rather give it than be asked for it. Without boundary geometry I can't re-project addresses onto the other map. So this isn't 'ward 43 got 43% busier' — it's 'ward 43's own reported rate moved 43 points more than the city trend'. Different claim.
The footnote is the artifact: two request types that all land on the same dozen or so addresses. Left in, they made everything look like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 rather end here than on a summary slide.
Number two is the one I'd flag to anyone starting a project like this. I tested by running dbt build by hand, which runs seeds and snapshots. The DAG only called run and test. Everything looked fine because my manual testing was quietly doing the work the DAG wasn't.
Number three cost me an afternoon — an intermittent lock on the DuckDB file with no obvious cause. The scheduler was executing a debug script I'd left in the dags folder every time it scanned.
And number six is the actual engineering lesson: the fix wasn't a bigger machine, it was a different query shape.
The whole thing runs from a clean checkout with those four commands.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822960" y="1600200"/>
            <a:ext cx="9144000" cy="274320"/>
          </a:xfrm>
          <a:prstGeom prst="rect">
            <a:avLst/>
          </a:prstGeom>
          <a:noFill/>
          <a:ln/>
        </p:spPr>
        <p:txBody>
          <a:bodyPr wrap="square" lIns="0" tIns="0" rIns="0" bIns="0" rtlCol="0" anchor="ctr"/>
          <a:lstStyle/>
          <a:p>
            <a:pPr indent="0" marL="0">
              <a:buNone/>
            </a:pPr>
            <a:r>
              <a:rPr lang="en-US" sz="1150" spc="140" kern="0" dirty="0">
                <a:solidFill>
                  <a:srgbClr val="E8913A"/>
                </a:solidFill>
                <a:latin typeface="Courier New" pitchFamily="34" charset="0"/>
                <a:ea typeface="Courier New" pitchFamily="34" charset="-122"/>
                <a:cs typeface="Courier New" pitchFamily="34" charset="-120"/>
              </a:rPr>
              <a:t>FINAL PROJECT  ·  DATA ENGINEERING INTERNSHIP</a:t>
            </a:r>
            <a:endParaRPr lang="en-US" sz="1150" dirty="0"/>
          </a:p>
        </p:txBody>
      </p:sp>
      <p:sp>
        <p:nvSpPr>
          <p:cNvPr id="3" name="Text 1"/>
          <p:cNvSpPr/>
          <p:nvPr/>
        </p:nvSpPr>
        <p:spPr>
          <a:xfrm>
            <a:off x="822960" y="2011680"/>
            <a:ext cx="10058400" cy="914400"/>
          </a:xfrm>
          <a:prstGeom prst="rect">
            <a:avLst/>
          </a:prstGeom>
          <a:noFill/>
          <a:ln/>
        </p:spPr>
        <p:txBody>
          <a:bodyPr wrap="square" lIns="0" tIns="0" rIns="0" bIns="0" rtlCol="0" anchor="ctr"/>
          <a:lstStyle/>
          <a:p>
            <a:pPr indent="0" marL="0">
              <a:buNone/>
            </a:pPr>
            <a:r>
              <a:rPr lang="en-US" sz="4800" b="1" dirty="0">
                <a:solidFill>
                  <a:srgbClr val="EDEBE7"/>
                </a:solidFill>
                <a:latin typeface="Arial" pitchFamily="34" charset="0"/>
                <a:ea typeface="Arial" pitchFamily="34" charset="-122"/>
                <a:cs typeface="Arial" pitchFamily="34" charset="-120"/>
              </a:rPr>
              <a:t>Chicago 311 Pipeline</a:t>
            </a:r>
            <a:endParaRPr lang="en-US" sz="4800" dirty="0"/>
          </a:p>
        </p:txBody>
      </p:sp>
      <p:sp>
        <p:nvSpPr>
          <p:cNvPr id="4" name="Text 2"/>
          <p:cNvSpPr/>
          <p:nvPr/>
        </p:nvSpPr>
        <p:spPr>
          <a:xfrm>
            <a:off x="822960" y="3063240"/>
            <a:ext cx="7680960" cy="731520"/>
          </a:xfrm>
          <a:prstGeom prst="rect">
            <a:avLst/>
          </a:prstGeom>
          <a:noFill/>
          <a:ln/>
        </p:spPr>
        <p:txBody>
          <a:bodyPr wrap="square" lIns="0" tIns="0" rIns="0" bIns="0" rtlCol="0" anchor="ctr"/>
          <a:lstStyle/>
          <a:p>
            <a:pPr indent="0" marL="0">
              <a:lnSpc>
                <a:spcPts val="2400"/>
              </a:lnSpc>
              <a:buNone/>
            </a:pPr>
            <a:r>
              <a:rPr lang="en-US" sz="1600" dirty="0">
                <a:solidFill>
                  <a:srgbClr val="9AA1A8"/>
                </a:solidFill>
                <a:latin typeface="Arial" pitchFamily="34" charset="0"/>
                <a:ea typeface="Arial" pitchFamily="34" charset="-122"/>
                <a:cs typeface="Arial" pitchFamily="34" charset="-120"/>
              </a:rPr>
              <a:t>Incremental ingestion of Chicago's 311 service requests, modeled into a star schema in DuckDB, orchestrated by Airflow, transformed and tested with dbt.</a:t>
            </a:r>
            <a:endParaRPr lang="en-US" sz="1600" dirty="0"/>
          </a:p>
        </p:txBody>
      </p:sp>
      <p:sp>
        <p:nvSpPr>
          <p:cNvPr id="5" name="Text 3"/>
          <p:cNvSpPr/>
          <p:nvPr/>
        </p:nvSpPr>
        <p:spPr>
          <a:xfrm>
            <a:off x="822960" y="3977640"/>
            <a:ext cx="8229600" cy="329184"/>
          </a:xfrm>
          <a:prstGeom prst="rect">
            <a:avLst/>
          </a:prstGeom>
          <a:noFill/>
          <a:ln/>
        </p:spPr>
        <p:txBody>
          <a:bodyPr wrap="square" lIns="0" tIns="0" rIns="0" bIns="0" rtlCol="0" anchor="ctr"/>
          <a:lstStyle/>
          <a:p>
            <a:pPr indent="0" marL="0">
              <a:buNone/>
            </a:pPr>
            <a:r>
              <a:rPr lang="en-US" sz="1500" i="1" dirty="0">
                <a:solidFill>
                  <a:srgbClr val="E8913A"/>
                </a:solidFill>
                <a:latin typeface="Arial" pitchFamily="34" charset="0"/>
                <a:ea typeface="Arial" pitchFamily="34" charset="-122"/>
                <a:cs typeface="Arial" pitchFamily="34" charset="-120"/>
              </a:rPr>
              <a:t>7,065,148 rows, one DAG, and six things that broke along the way.</a:t>
            </a:r>
            <a:endParaRPr lang="en-US" sz="1500" dirty="0"/>
          </a:p>
        </p:txBody>
      </p:sp>
      <p:sp>
        <p:nvSpPr>
          <p:cNvPr id="6" name="Shape 4"/>
          <p:cNvSpPr/>
          <p:nvPr/>
        </p:nvSpPr>
        <p:spPr>
          <a:xfrm>
            <a:off x="822960" y="5029200"/>
            <a:ext cx="10515600" cy="0"/>
          </a:xfrm>
          <a:prstGeom prst="line">
            <a:avLst/>
          </a:prstGeom>
          <a:noFill/>
          <a:ln w="12700">
            <a:solidFill>
              <a:srgbClr val="2E343C"/>
            </a:solidFill>
            <a:prstDash val="solid"/>
          </a:ln>
        </p:spPr>
      </p:sp>
      <p:sp>
        <p:nvSpPr>
          <p:cNvPr id="7" name="Text 5"/>
          <p:cNvSpPr/>
          <p:nvPr/>
        </p:nvSpPr>
        <p:spPr>
          <a:xfrm>
            <a:off x="822960" y="5257800"/>
            <a:ext cx="2354580" cy="411480"/>
          </a:xfrm>
          <a:prstGeom prst="rect">
            <a:avLst/>
          </a:prstGeom>
          <a:noFill/>
          <a:ln/>
        </p:spPr>
        <p:txBody>
          <a:bodyPr wrap="square" lIns="0" tIns="0" rIns="0" bIns="0" rtlCol="0" anchor="ctr"/>
          <a:lstStyle/>
          <a:p>
            <a:pPr indent="0" marL="0">
              <a:buNone/>
            </a:pPr>
            <a:r>
              <a:rPr lang="en-US" sz="2200" b="1" dirty="0">
                <a:solidFill>
                  <a:srgbClr val="EDEBE7"/>
                </a:solidFill>
                <a:latin typeface="Arial" pitchFamily="34" charset="0"/>
                <a:ea typeface="Arial" pitchFamily="34" charset="-122"/>
                <a:cs typeface="Arial" pitchFamily="34" charset="-120"/>
              </a:rPr>
              <a:t>7.07M</a:t>
            </a:r>
            <a:endParaRPr lang="en-US" sz="2200" dirty="0"/>
          </a:p>
        </p:txBody>
      </p:sp>
      <p:sp>
        <p:nvSpPr>
          <p:cNvPr id="8" name="Text 6"/>
          <p:cNvSpPr/>
          <p:nvPr/>
        </p:nvSpPr>
        <p:spPr>
          <a:xfrm>
            <a:off x="822960" y="5669280"/>
            <a:ext cx="2354580" cy="256032"/>
          </a:xfrm>
          <a:prstGeom prst="rect">
            <a:avLst/>
          </a:prstGeom>
          <a:noFill/>
          <a:ln/>
        </p:spPr>
        <p:txBody>
          <a:bodyPr wrap="square" lIns="0" tIns="0" rIns="0" bIns="0" rtlCol="0" anchor="ctr"/>
          <a:lstStyle/>
          <a:p>
            <a:pPr indent="0" marL="0">
              <a:buNone/>
            </a:pPr>
            <a:r>
              <a:rPr lang="en-US" sz="1050" dirty="0">
                <a:solidFill>
                  <a:srgbClr val="9AA1A8"/>
                </a:solidFill>
                <a:latin typeface="Courier New" pitchFamily="34" charset="0"/>
                <a:ea typeface="Courier New" pitchFamily="34" charset="-122"/>
                <a:cs typeface="Courier New" pitchFamily="34" charset="-120"/>
              </a:rPr>
              <a:t>rows ingested</a:t>
            </a:r>
            <a:endParaRPr lang="en-US" sz="1050" dirty="0"/>
          </a:p>
        </p:txBody>
      </p:sp>
      <p:sp>
        <p:nvSpPr>
          <p:cNvPr id="9" name="Text 7"/>
          <p:cNvSpPr/>
          <p:nvPr/>
        </p:nvSpPr>
        <p:spPr>
          <a:xfrm>
            <a:off x="3451860" y="5257800"/>
            <a:ext cx="2354580" cy="411480"/>
          </a:xfrm>
          <a:prstGeom prst="rect">
            <a:avLst/>
          </a:prstGeom>
          <a:noFill/>
          <a:ln/>
        </p:spPr>
        <p:txBody>
          <a:bodyPr wrap="square" lIns="0" tIns="0" rIns="0" bIns="0" rtlCol="0" anchor="ctr"/>
          <a:lstStyle/>
          <a:p>
            <a:pPr indent="0" marL="0">
              <a:buNone/>
            </a:pPr>
            <a:r>
              <a:rPr lang="en-US" sz="2200" b="1" dirty="0">
                <a:solidFill>
                  <a:srgbClr val="EDEBE7"/>
                </a:solidFill>
                <a:latin typeface="Arial" pitchFamily="34" charset="0"/>
                <a:ea typeface="Arial" pitchFamily="34" charset="-122"/>
                <a:cs typeface="Arial" pitchFamily="34" charset="-120"/>
              </a:rPr>
              <a:t>8</a:t>
            </a:r>
            <a:endParaRPr lang="en-US" sz="2200" dirty="0"/>
          </a:p>
        </p:txBody>
      </p:sp>
      <p:sp>
        <p:nvSpPr>
          <p:cNvPr id="10" name="Text 8"/>
          <p:cNvSpPr/>
          <p:nvPr/>
        </p:nvSpPr>
        <p:spPr>
          <a:xfrm>
            <a:off x="3451860" y="5669280"/>
            <a:ext cx="2354580" cy="256032"/>
          </a:xfrm>
          <a:prstGeom prst="rect">
            <a:avLst/>
          </a:prstGeom>
          <a:noFill/>
          <a:ln/>
        </p:spPr>
        <p:txBody>
          <a:bodyPr wrap="square" lIns="0" tIns="0" rIns="0" bIns="0" rtlCol="0" anchor="ctr"/>
          <a:lstStyle/>
          <a:p>
            <a:pPr indent="0" marL="0">
              <a:buNone/>
            </a:pPr>
            <a:r>
              <a:rPr lang="en-US" sz="1050" dirty="0">
                <a:solidFill>
                  <a:srgbClr val="9AA1A8"/>
                </a:solidFill>
                <a:latin typeface="Courier New" pitchFamily="34" charset="0"/>
                <a:ea typeface="Courier New" pitchFamily="34" charset="-122"/>
                <a:cs typeface="Courier New" pitchFamily="34" charset="-120"/>
              </a:rPr>
              <a:t>tasks in the DAG</a:t>
            </a:r>
            <a:endParaRPr lang="en-US" sz="1050" dirty="0"/>
          </a:p>
        </p:txBody>
      </p:sp>
      <p:sp>
        <p:nvSpPr>
          <p:cNvPr id="11" name="Text 9"/>
          <p:cNvSpPr/>
          <p:nvPr/>
        </p:nvSpPr>
        <p:spPr>
          <a:xfrm>
            <a:off x="6080760" y="5257800"/>
            <a:ext cx="2354580" cy="411480"/>
          </a:xfrm>
          <a:prstGeom prst="rect">
            <a:avLst/>
          </a:prstGeom>
          <a:noFill/>
          <a:ln/>
        </p:spPr>
        <p:txBody>
          <a:bodyPr wrap="square" lIns="0" tIns="0" rIns="0" bIns="0" rtlCol="0" anchor="ctr"/>
          <a:lstStyle/>
          <a:p>
            <a:pPr indent="0" marL="0">
              <a:buNone/>
            </a:pPr>
            <a:r>
              <a:rPr lang="en-US" sz="2200" b="1" dirty="0">
                <a:solidFill>
                  <a:srgbClr val="EDEBE7"/>
                </a:solidFill>
                <a:latin typeface="Arial" pitchFamily="34" charset="0"/>
                <a:ea typeface="Arial" pitchFamily="34" charset="-122"/>
                <a:cs typeface="Arial" pitchFamily="34" charset="-120"/>
              </a:rPr>
              <a:t>23</a:t>
            </a:r>
            <a:endParaRPr lang="en-US" sz="2200" dirty="0"/>
          </a:p>
        </p:txBody>
      </p:sp>
      <p:sp>
        <p:nvSpPr>
          <p:cNvPr id="12" name="Text 10"/>
          <p:cNvSpPr/>
          <p:nvPr/>
        </p:nvSpPr>
        <p:spPr>
          <a:xfrm>
            <a:off x="6080760" y="5669280"/>
            <a:ext cx="2354580" cy="256032"/>
          </a:xfrm>
          <a:prstGeom prst="rect">
            <a:avLst/>
          </a:prstGeom>
          <a:noFill/>
          <a:ln/>
        </p:spPr>
        <p:txBody>
          <a:bodyPr wrap="square" lIns="0" tIns="0" rIns="0" bIns="0" rtlCol="0" anchor="ctr"/>
          <a:lstStyle/>
          <a:p>
            <a:pPr indent="0" marL="0">
              <a:buNone/>
            </a:pPr>
            <a:r>
              <a:rPr lang="en-US" sz="1050" dirty="0">
                <a:solidFill>
                  <a:srgbClr val="9AA1A8"/>
                </a:solidFill>
                <a:latin typeface="Courier New" pitchFamily="34" charset="0"/>
                <a:ea typeface="Courier New" pitchFamily="34" charset="-122"/>
                <a:cs typeface="Courier New" pitchFamily="34" charset="-120"/>
              </a:rPr>
              <a:t>dbt tests</a:t>
            </a:r>
            <a:endParaRPr lang="en-US" sz="1050" dirty="0"/>
          </a:p>
        </p:txBody>
      </p:sp>
      <p:sp>
        <p:nvSpPr>
          <p:cNvPr id="13" name="Text 11"/>
          <p:cNvSpPr/>
          <p:nvPr/>
        </p:nvSpPr>
        <p:spPr>
          <a:xfrm>
            <a:off x="8709660" y="5257800"/>
            <a:ext cx="2354580" cy="411480"/>
          </a:xfrm>
          <a:prstGeom prst="rect">
            <a:avLst/>
          </a:prstGeom>
          <a:noFill/>
          <a:ln/>
        </p:spPr>
        <p:txBody>
          <a:bodyPr wrap="square" lIns="0" tIns="0" rIns="0" bIns="0" rtlCol="0" anchor="ctr"/>
          <a:lstStyle/>
          <a:p>
            <a:pPr indent="0" marL="0">
              <a:buNone/>
            </a:pPr>
            <a:r>
              <a:rPr lang="en-US" sz="2200" b="1" dirty="0">
                <a:solidFill>
                  <a:srgbClr val="EDEBE7"/>
                </a:solidFill>
                <a:latin typeface="Arial" pitchFamily="34" charset="0"/>
                <a:ea typeface="Arial" pitchFamily="34" charset="-122"/>
                <a:cs typeface="Arial" pitchFamily="34" charset="-120"/>
              </a:rPr>
              <a:t>v6vf-nfxy</a:t>
            </a:r>
            <a:endParaRPr lang="en-US" sz="2200" dirty="0"/>
          </a:p>
        </p:txBody>
      </p:sp>
      <p:sp>
        <p:nvSpPr>
          <p:cNvPr id="14" name="Text 12"/>
          <p:cNvSpPr/>
          <p:nvPr/>
        </p:nvSpPr>
        <p:spPr>
          <a:xfrm>
            <a:off x="8709660" y="5669280"/>
            <a:ext cx="2354580" cy="256032"/>
          </a:xfrm>
          <a:prstGeom prst="rect">
            <a:avLst/>
          </a:prstGeom>
          <a:noFill/>
          <a:ln/>
        </p:spPr>
        <p:txBody>
          <a:bodyPr wrap="square" lIns="0" tIns="0" rIns="0" bIns="0" rtlCol="0" anchor="ctr"/>
          <a:lstStyle/>
          <a:p>
            <a:pPr indent="0" marL="0">
              <a:buNone/>
            </a:pPr>
            <a:r>
              <a:rPr lang="en-US" sz="1050" dirty="0">
                <a:solidFill>
                  <a:srgbClr val="9AA1A8"/>
                </a:solidFill>
                <a:latin typeface="Courier New" pitchFamily="34" charset="0"/>
                <a:ea typeface="Courier New" pitchFamily="34" charset="-122"/>
                <a:cs typeface="Courier New" pitchFamily="34" charset="-120"/>
              </a:rPr>
              <a:t>Socrata dataset</a:t>
            </a:r>
            <a:endParaRPr lang="en-US" sz="1050" dirty="0"/>
          </a:p>
        </p:txBody>
      </p:sp>
      <p:sp>
        <p:nvSpPr>
          <p:cNvPr id="15" name="Text 13"/>
          <p:cNvSpPr/>
          <p:nvPr/>
        </p:nvSpPr>
        <p:spPr>
          <a:xfrm>
            <a:off x="8595360" y="6327648"/>
            <a:ext cx="2743200" cy="237744"/>
          </a:xfrm>
          <a:prstGeom prst="rect">
            <a:avLst/>
          </a:prstGeom>
          <a:noFill/>
          <a:ln/>
        </p:spPr>
        <p:txBody>
          <a:bodyPr wrap="square" lIns="0" tIns="0" rIns="0" bIns="0" rtlCol="0" anchor="ctr"/>
          <a:lstStyle/>
          <a:p>
            <a:pPr algn="r" indent="0" marL="0">
              <a:buNone/>
            </a:pPr>
            <a:r>
              <a:rPr lang="en-US" sz="950" dirty="0">
                <a:solidFill>
                  <a:srgbClr val="676F77"/>
                </a:solidFill>
                <a:latin typeface="Courier New" pitchFamily="34" charset="0"/>
                <a:ea typeface="Courier New" pitchFamily="34" charset="-122"/>
                <a:cs typeface="Courier New" pitchFamily="34" charset="-120"/>
              </a:rPr>
              <a:t>01 / 08</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822960" y="566928"/>
            <a:ext cx="10515600" cy="237744"/>
          </a:xfrm>
          <a:prstGeom prst="rect">
            <a:avLst/>
          </a:prstGeom>
          <a:noFill/>
          <a:ln/>
        </p:spPr>
        <p:txBody>
          <a:bodyPr wrap="square" lIns="0" tIns="0" rIns="0" bIns="0" rtlCol="0" anchor="ctr"/>
          <a:lstStyle/>
          <a:p>
            <a:pPr indent="0" marL="0">
              <a:buNone/>
            </a:pPr>
            <a:r>
              <a:rPr lang="en-US" sz="1050" spc="140" kern="0" dirty="0">
                <a:solidFill>
                  <a:srgbClr val="E8913A"/>
                </a:solidFill>
                <a:latin typeface="Courier New" pitchFamily="34" charset="0"/>
                <a:ea typeface="Courier New" pitchFamily="34" charset="-122"/>
                <a:cs typeface="Courier New" pitchFamily="34" charset="-120"/>
              </a:rPr>
              <a:t>01 — THE DATA</a:t>
            </a:r>
            <a:endParaRPr lang="en-US" sz="1050" dirty="0"/>
          </a:p>
        </p:txBody>
      </p:sp>
      <p:sp>
        <p:nvSpPr>
          <p:cNvPr id="3" name="Text 1"/>
          <p:cNvSpPr/>
          <p:nvPr/>
        </p:nvSpPr>
        <p:spPr>
          <a:xfrm>
            <a:off x="822960" y="868680"/>
            <a:ext cx="10515600" cy="603504"/>
          </a:xfrm>
          <a:prstGeom prst="rect">
            <a:avLst/>
          </a:prstGeom>
          <a:noFill/>
          <a:ln/>
        </p:spPr>
        <p:txBody>
          <a:bodyPr wrap="square" lIns="0" tIns="0" rIns="0" bIns="0" rtlCol="0" anchor="ctr"/>
          <a:lstStyle/>
          <a:p>
            <a:pPr indent="0" marL="0">
              <a:buNone/>
            </a:pPr>
            <a:r>
              <a:rPr lang="en-US" sz="3200" b="1" dirty="0">
                <a:solidFill>
                  <a:srgbClr val="EDEBE7"/>
                </a:solidFill>
                <a:latin typeface="Arial" pitchFamily="34" charset="0"/>
                <a:ea typeface="Arial" pitchFamily="34" charset="-122"/>
                <a:cs typeface="Arial" pitchFamily="34" charset="-120"/>
              </a:rPr>
              <a:t>Why this dataset</a:t>
            </a:r>
            <a:endParaRPr lang="en-US" sz="3200" dirty="0"/>
          </a:p>
        </p:txBody>
      </p:sp>
      <p:sp>
        <p:nvSpPr>
          <p:cNvPr id="4" name="Text 2"/>
          <p:cNvSpPr/>
          <p:nvPr/>
        </p:nvSpPr>
        <p:spPr>
          <a:xfrm>
            <a:off x="8595360" y="6327648"/>
            <a:ext cx="2743200" cy="237744"/>
          </a:xfrm>
          <a:prstGeom prst="rect">
            <a:avLst/>
          </a:prstGeom>
          <a:noFill/>
          <a:ln/>
        </p:spPr>
        <p:txBody>
          <a:bodyPr wrap="square" lIns="0" tIns="0" rIns="0" bIns="0" rtlCol="0" anchor="ctr"/>
          <a:lstStyle/>
          <a:p>
            <a:pPr algn="r" indent="0" marL="0">
              <a:buNone/>
            </a:pPr>
            <a:r>
              <a:rPr lang="en-US" sz="950" dirty="0">
                <a:solidFill>
                  <a:srgbClr val="676F77"/>
                </a:solidFill>
                <a:latin typeface="Courier New" pitchFamily="34" charset="0"/>
                <a:ea typeface="Courier New" pitchFamily="34" charset="-122"/>
                <a:cs typeface="Courier New" pitchFamily="34" charset="-120"/>
              </a:rPr>
              <a:t>02 / 08</a:t>
            </a:r>
            <a:endParaRPr lang="en-US" sz="950" dirty="0"/>
          </a:p>
        </p:txBody>
      </p:sp>
      <p:sp>
        <p:nvSpPr>
          <p:cNvPr id="5" name="Text 3"/>
          <p:cNvSpPr/>
          <p:nvPr/>
        </p:nvSpPr>
        <p:spPr>
          <a:xfrm>
            <a:off x="822960" y="1874520"/>
            <a:ext cx="10515600" cy="365760"/>
          </a:xfrm>
          <a:prstGeom prst="rect">
            <a:avLst/>
          </a:prstGeom>
          <a:noFill/>
          <a:ln/>
        </p:spPr>
        <p:txBody>
          <a:bodyPr wrap="square" lIns="0" tIns="0" rIns="0" bIns="0" rtlCol="0" anchor="ctr"/>
          <a:lstStyle/>
          <a:p>
            <a:pPr indent="0" marL="0">
              <a:buNone/>
            </a:pPr>
            <a:r>
              <a:rPr lang="en-US" sz="1500" dirty="0">
                <a:solidFill>
                  <a:srgbClr val="9AA1A8"/>
                </a:solidFill>
                <a:latin typeface="Arial" pitchFamily="34" charset="0"/>
                <a:ea typeface="Arial" pitchFamily="34" charset="-122"/>
                <a:cs typeface="Arial" pitchFamily="34" charset="-120"/>
              </a:rPr>
              <a:t>Every complaint filed with the city, updated near real-time on the Chicago Data Portal.</a:t>
            </a:r>
            <a:endParaRPr lang="en-US" sz="1500" dirty="0"/>
          </a:p>
        </p:txBody>
      </p:sp>
      <p:sp>
        <p:nvSpPr>
          <p:cNvPr id="6" name="Text 4"/>
          <p:cNvSpPr/>
          <p:nvPr/>
        </p:nvSpPr>
        <p:spPr>
          <a:xfrm>
            <a:off x="822960" y="2651760"/>
            <a:ext cx="2194560" cy="502920"/>
          </a:xfrm>
          <a:prstGeom prst="rect">
            <a:avLst/>
          </a:prstGeom>
          <a:noFill/>
          <a:ln/>
        </p:spPr>
        <p:txBody>
          <a:bodyPr wrap="square" lIns="0" tIns="0" rIns="0" bIns="0" rtlCol="0" anchor="ctr"/>
          <a:lstStyle/>
          <a:p>
            <a:pPr indent="0" marL="0">
              <a:buNone/>
            </a:pPr>
            <a:r>
              <a:rPr lang="en-US" sz="2600" b="1" dirty="0">
                <a:solidFill>
                  <a:srgbClr val="E8913A"/>
                </a:solidFill>
                <a:latin typeface="Arial" pitchFamily="34" charset="0"/>
                <a:ea typeface="Arial" pitchFamily="34" charset="-122"/>
                <a:cs typeface="Arial" pitchFamily="34" charset="-120"/>
              </a:rPr>
              <a:t>7,065,148</a:t>
            </a:r>
            <a:endParaRPr lang="en-US" sz="2600" dirty="0"/>
          </a:p>
        </p:txBody>
      </p:sp>
      <p:sp>
        <p:nvSpPr>
          <p:cNvPr id="7" name="Text 5"/>
          <p:cNvSpPr/>
          <p:nvPr/>
        </p:nvSpPr>
        <p:spPr>
          <a:xfrm>
            <a:off x="822960" y="3154680"/>
            <a:ext cx="2194560" cy="256032"/>
          </a:xfrm>
          <a:prstGeom prst="rect">
            <a:avLst/>
          </a:prstGeom>
          <a:noFill/>
          <a:ln/>
        </p:spPr>
        <p:txBody>
          <a:bodyPr wrap="square" lIns="0" tIns="0" rIns="0" bIns="0" rtlCol="0" anchor="ctr"/>
          <a:lstStyle/>
          <a:p>
            <a:pPr indent="0" marL="0">
              <a:buNone/>
            </a:pPr>
            <a:r>
              <a:rPr lang="en-US" sz="1050" dirty="0">
                <a:solidFill>
                  <a:srgbClr val="9AA1A8"/>
                </a:solidFill>
                <a:latin typeface="Courier New" pitchFamily="34" charset="0"/>
                <a:ea typeface="Courier New" pitchFamily="34" charset="-122"/>
                <a:cs typeface="Courier New" pitchFamily="34" charset="-120"/>
              </a:rPr>
              <a:t>rows ingested</a:t>
            </a:r>
            <a:endParaRPr lang="en-US" sz="1050" dirty="0"/>
          </a:p>
        </p:txBody>
      </p:sp>
      <p:sp>
        <p:nvSpPr>
          <p:cNvPr id="8" name="Text 6"/>
          <p:cNvSpPr/>
          <p:nvPr/>
        </p:nvSpPr>
        <p:spPr>
          <a:xfrm>
            <a:off x="3154680" y="2651760"/>
            <a:ext cx="2194560" cy="502920"/>
          </a:xfrm>
          <a:prstGeom prst="rect">
            <a:avLst/>
          </a:prstGeom>
          <a:noFill/>
          <a:ln/>
        </p:spPr>
        <p:txBody>
          <a:bodyPr wrap="square" lIns="0" tIns="0" rIns="0" bIns="0" rtlCol="0" anchor="ctr"/>
          <a:lstStyle/>
          <a:p>
            <a:pPr indent="0" marL="0">
              <a:buNone/>
            </a:pPr>
            <a:r>
              <a:rPr lang="en-US" sz="2600" b="1" dirty="0">
                <a:solidFill>
                  <a:srgbClr val="E8913A"/>
                </a:solidFill>
                <a:latin typeface="Arial" pitchFamily="34" charset="0"/>
                <a:ea typeface="Arial" pitchFamily="34" charset="-122"/>
                <a:cs typeface="Arial" pitchFamily="34" charset="-120"/>
              </a:rPr>
              <a:t>~37</a:t>
            </a:r>
            <a:endParaRPr lang="en-US" sz="2600" dirty="0"/>
          </a:p>
        </p:txBody>
      </p:sp>
      <p:sp>
        <p:nvSpPr>
          <p:cNvPr id="9" name="Text 7"/>
          <p:cNvSpPr/>
          <p:nvPr/>
        </p:nvSpPr>
        <p:spPr>
          <a:xfrm>
            <a:off x="3154680" y="3154680"/>
            <a:ext cx="2194560" cy="256032"/>
          </a:xfrm>
          <a:prstGeom prst="rect">
            <a:avLst/>
          </a:prstGeom>
          <a:noFill/>
          <a:ln/>
        </p:spPr>
        <p:txBody>
          <a:bodyPr wrap="square" lIns="0" tIns="0" rIns="0" bIns="0" rtlCol="0" anchor="ctr"/>
          <a:lstStyle/>
          <a:p>
            <a:pPr indent="0" marL="0">
              <a:buNone/>
            </a:pPr>
            <a:r>
              <a:rPr lang="en-US" sz="1050" dirty="0">
                <a:solidFill>
                  <a:srgbClr val="9AA1A8"/>
                </a:solidFill>
                <a:latin typeface="Courier New" pitchFamily="34" charset="0"/>
                <a:ea typeface="Courier New" pitchFamily="34" charset="-122"/>
                <a:cs typeface="Courier New" pitchFamily="34" charset="-120"/>
              </a:rPr>
              <a:t>raw columns</a:t>
            </a:r>
            <a:endParaRPr lang="en-US" sz="1050" dirty="0"/>
          </a:p>
        </p:txBody>
      </p:sp>
      <p:sp>
        <p:nvSpPr>
          <p:cNvPr id="10" name="Text 8"/>
          <p:cNvSpPr/>
          <p:nvPr/>
        </p:nvSpPr>
        <p:spPr>
          <a:xfrm>
            <a:off x="5486400" y="2651760"/>
            <a:ext cx="2194560" cy="502920"/>
          </a:xfrm>
          <a:prstGeom prst="rect">
            <a:avLst/>
          </a:prstGeom>
          <a:noFill/>
          <a:ln/>
        </p:spPr>
        <p:txBody>
          <a:bodyPr wrap="square" lIns="0" tIns="0" rIns="0" bIns="0" rtlCol="0" anchor="ctr"/>
          <a:lstStyle/>
          <a:p>
            <a:pPr indent="0" marL="0">
              <a:buNone/>
            </a:pPr>
            <a:r>
              <a:rPr lang="en-US" sz="2600" b="1" dirty="0">
                <a:solidFill>
                  <a:srgbClr val="E8913A"/>
                </a:solidFill>
                <a:latin typeface="Arial" pitchFamily="34" charset="0"/>
                <a:ea typeface="Arial" pitchFamily="34" charset="-122"/>
                <a:cs typeface="Arial" pitchFamily="34" charset="-120"/>
              </a:rPr>
              <a:t>2023-01-01</a:t>
            </a:r>
            <a:endParaRPr lang="en-US" sz="2600" dirty="0"/>
          </a:p>
        </p:txBody>
      </p:sp>
      <p:sp>
        <p:nvSpPr>
          <p:cNvPr id="11" name="Text 9"/>
          <p:cNvSpPr/>
          <p:nvPr/>
        </p:nvSpPr>
        <p:spPr>
          <a:xfrm>
            <a:off x="5486400" y="3154680"/>
            <a:ext cx="2194560" cy="256032"/>
          </a:xfrm>
          <a:prstGeom prst="rect">
            <a:avLst/>
          </a:prstGeom>
          <a:noFill/>
          <a:ln/>
        </p:spPr>
        <p:txBody>
          <a:bodyPr wrap="square" lIns="0" tIns="0" rIns="0" bIns="0" rtlCol="0" anchor="ctr"/>
          <a:lstStyle/>
          <a:p>
            <a:pPr indent="0" marL="0">
              <a:buNone/>
            </a:pPr>
            <a:r>
              <a:rPr lang="en-US" sz="1050" dirty="0">
                <a:solidFill>
                  <a:srgbClr val="9AA1A8"/>
                </a:solidFill>
                <a:latin typeface="Courier New" pitchFamily="34" charset="0"/>
                <a:ea typeface="Courier New" pitchFamily="34" charset="-122"/>
                <a:cs typeface="Courier New" pitchFamily="34" charset="-120"/>
              </a:rPr>
              <a:t>→ today</a:t>
            </a:r>
            <a:endParaRPr lang="en-US" sz="1050" dirty="0"/>
          </a:p>
        </p:txBody>
      </p:sp>
      <p:sp>
        <p:nvSpPr>
          <p:cNvPr id="12" name="Text 10"/>
          <p:cNvSpPr/>
          <p:nvPr/>
        </p:nvSpPr>
        <p:spPr>
          <a:xfrm>
            <a:off x="822960" y="3886200"/>
            <a:ext cx="6035040" cy="310896"/>
          </a:xfrm>
          <a:prstGeom prst="rect">
            <a:avLst/>
          </a:prstGeom>
          <a:noFill/>
          <a:ln/>
        </p:spPr>
        <p:txBody>
          <a:bodyPr wrap="square" lIns="0" tIns="0" rIns="0" bIns="0" rtlCol="0" anchor="ctr"/>
          <a:lstStyle/>
          <a:p>
            <a:pPr indent="0" marL="0">
              <a:buNone/>
            </a:pPr>
            <a:r>
              <a:rPr lang="en-US" sz="1500" b="1" dirty="0">
                <a:solidFill>
                  <a:srgbClr val="EDEBE7"/>
                </a:solidFill>
                <a:latin typeface="Arial" pitchFamily="34" charset="0"/>
                <a:ea typeface="Arial" pitchFamily="34" charset="-122"/>
                <a:cs typeface="Arial" pitchFamily="34" charset="-120"/>
              </a:rPr>
              <a:t>Why I started in 2023, not 2018</a:t>
            </a:r>
            <a:endParaRPr lang="en-US" sz="1500" dirty="0"/>
          </a:p>
        </p:txBody>
      </p:sp>
      <p:sp>
        <p:nvSpPr>
          <p:cNvPr id="13" name="Text 11"/>
          <p:cNvSpPr/>
          <p:nvPr/>
        </p:nvSpPr>
        <p:spPr>
          <a:xfrm>
            <a:off x="822960" y="4251960"/>
            <a:ext cx="6035040" cy="1005840"/>
          </a:xfrm>
          <a:prstGeom prst="rect">
            <a:avLst/>
          </a:prstGeom>
          <a:noFill/>
          <a:ln/>
        </p:spPr>
        <p:txBody>
          <a:bodyPr wrap="square" lIns="0" tIns="0" rIns="0" bIns="0" rtlCol="0" anchor="ctr"/>
          <a:lstStyle/>
          <a:p>
            <a:pPr indent="0" marL="0">
              <a:lnSpc>
                <a:spcPts val="2100"/>
              </a:lnSpc>
              <a:buNone/>
            </a:pPr>
            <a:r>
              <a:rPr lang="en-US" sz="1350" dirty="0">
                <a:solidFill>
                  <a:srgbClr val="9AA1A8"/>
                </a:solidFill>
                <a:latin typeface="Arial" pitchFamily="34" charset="0"/>
                <a:ea typeface="Arial" pitchFamily="34" charset="-122"/>
                <a:cs typeface="Arial" pitchFamily="34" charset="-120"/>
              </a:rPr>
              <a:t>A paginated backfill of the full archive wasn't worth the time. 2023 onward still spans both sides of the ward redistricting — which is the whole reason the SCD2 dimension has anything to remember.</a:t>
            </a:r>
            <a:endParaRPr lang="en-US" sz="1350" dirty="0"/>
          </a:p>
        </p:txBody>
      </p:sp>
      <p:sp>
        <p:nvSpPr>
          <p:cNvPr id="14" name="Text 12"/>
          <p:cNvSpPr/>
          <p:nvPr/>
        </p:nvSpPr>
        <p:spPr>
          <a:xfrm>
            <a:off x="7772400" y="2651760"/>
            <a:ext cx="3657600" cy="256032"/>
          </a:xfrm>
          <a:prstGeom prst="rect">
            <a:avLst/>
          </a:prstGeom>
          <a:noFill/>
          <a:ln/>
        </p:spPr>
        <p:txBody>
          <a:bodyPr wrap="square" lIns="0" tIns="0" rIns="0" bIns="0" rtlCol="0" anchor="ctr"/>
          <a:lstStyle/>
          <a:p>
            <a:pPr indent="0" marL="0">
              <a:buNone/>
            </a:pPr>
            <a:r>
              <a:rPr lang="en-US" sz="1000" spc="120" kern="0" dirty="0">
                <a:solidFill>
                  <a:srgbClr val="E8913A"/>
                </a:solidFill>
                <a:latin typeface="Courier New" pitchFamily="34" charset="0"/>
                <a:ea typeface="Courier New" pitchFamily="34" charset="-122"/>
                <a:cs typeface="Courier New" pitchFamily="34" charset="-120"/>
              </a:rPr>
              <a:t>WHAT THE BRIEF REQUIRED</a:t>
            </a:r>
            <a:endParaRPr lang="en-US" sz="1000" dirty="0"/>
          </a:p>
        </p:txBody>
      </p:sp>
      <p:sp>
        <p:nvSpPr>
          <p:cNvPr id="15" name="Text 13"/>
          <p:cNvSpPr/>
          <p:nvPr/>
        </p:nvSpPr>
        <p:spPr>
          <a:xfrm>
            <a:off x="7772400" y="3154680"/>
            <a:ext cx="3840480" cy="365760"/>
          </a:xfrm>
          <a:prstGeom prst="rect">
            <a:avLst/>
          </a:prstGeom>
          <a:noFill/>
          <a:ln/>
        </p:spPr>
        <p:txBody>
          <a:bodyPr wrap="square" lIns="0" tIns="0" rIns="0" bIns="0" rtlCol="0" anchor="ctr"/>
          <a:lstStyle/>
          <a:p>
            <a:pPr indent="0" marL="0">
              <a:buNone/>
            </a:pPr>
            <a:r>
              <a:rPr lang="en-US" sz="1300" dirty="0">
                <a:solidFill>
                  <a:srgbClr val="9AA1A8"/>
                </a:solidFill>
                <a:latin typeface="Arial" pitchFamily="34" charset="0"/>
                <a:ea typeface="Arial" pitchFamily="34" charset="-122"/>
                <a:cs typeface="Arial" pitchFamily="34" charset="-120"/>
              </a:rPr>
              <a:t>Airflow + DuckDB + dbt, staging → marts</a:t>
            </a:r>
            <a:endParaRPr lang="en-US" sz="1300" dirty="0"/>
          </a:p>
        </p:txBody>
      </p:sp>
      <p:sp>
        <p:nvSpPr>
          <p:cNvPr id="16" name="Text 14"/>
          <p:cNvSpPr/>
          <p:nvPr/>
        </p:nvSpPr>
        <p:spPr>
          <a:xfrm>
            <a:off x="7772400" y="3611880"/>
            <a:ext cx="3840480" cy="365760"/>
          </a:xfrm>
          <a:prstGeom prst="rect">
            <a:avLst/>
          </a:prstGeom>
          <a:noFill/>
          <a:ln/>
        </p:spPr>
        <p:txBody>
          <a:bodyPr wrap="square" lIns="0" tIns="0" rIns="0" bIns="0" rtlCol="0" anchor="ctr"/>
          <a:lstStyle/>
          <a:p>
            <a:pPr indent="0" marL="0">
              <a:buNone/>
            </a:pPr>
            <a:r>
              <a:rPr lang="en-US" sz="1300" dirty="0">
                <a:solidFill>
                  <a:srgbClr val="9AA1A8"/>
                </a:solidFill>
                <a:latin typeface="Arial" pitchFamily="34" charset="0"/>
                <a:ea typeface="Arial" pitchFamily="34" charset="-122"/>
                <a:cs typeface="Arial" pitchFamily="34" charset="-120"/>
              </a:rPr>
              <a:t>One SCD Type 2 dimension, via dbt snapshot</a:t>
            </a:r>
            <a:endParaRPr lang="en-US" sz="1300" dirty="0"/>
          </a:p>
        </p:txBody>
      </p:sp>
      <p:sp>
        <p:nvSpPr>
          <p:cNvPr id="17" name="Text 15"/>
          <p:cNvSpPr/>
          <p:nvPr/>
        </p:nvSpPr>
        <p:spPr>
          <a:xfrm>
            <a:off x="7772400" y="4069080"/>
            <a:ext cx="3840480" cy="365760"/>
          </a:xfrm>
          <a:prstGeom prst="rect">
            <a:avLst/>
          </a:prstGeom>
          <a:noFill/>
          <a:ln/>
        </p:spPr>
        <p:txBody>
          <a:bodyPr wrap="square" lIns="0" tIns="0" rIns="0" bIns="0" rtlCol="0" anchor="ctr"/>
          <a:lstStyle/>
          <a:p>
            <a:pPr indent="0" marL="0">
              <a:buNone/>
            </a:pPr>
            <a:r>
              <a:rPr lang="en-US" sz="1300" dirty="0">
                <a:solidFill>
                  <a:srgbClr val="9AA1A8"/>
                </a:solidFill>
                <a:latin typeface="Arial" pitchFamily="34" charset="0"/>
                <a:ea typeface="Arial" pitchFamily="34" charset="-122"/>
                <a:cs typeface="Arial" pitchFamily="34" charset="-120"/>
              </a:rPr>
              <a:t>5+ dbt tests, including custom SQL</a:t>
            </a:r>
            <a:endParaRPr lang="en-US" sz="1300" dirty="0"/>
          </a:p>
        </p:txBody>
      </p:sp>
      <p:sp>
        <p:nvSpPr>
          <p:cNvPr id="18" name="Text 16"/>
          <p:cNvSpPr/>
          <p:nvPr/>
        </p:nvSpPr>
        <p:spPr>
          <a:xfrm>
            <a:off x="7772400" y="4526280"/>
            <a:ext cx="3840480" cy="365760"/>
          </a:xfrm>
          <a:prstGeom prst="rect">
            <a:avLst/>
          </a:prstGeom>
          <a:noFill/>
          <a:ln/>
        </p:spPr>
        <p:txBody>
          <a:bodyPr wrap="square" lIns="0" tIns="0" rIns="0" bIns="0" rtlCol="0" anchor="ctr"/>
          <a:lstStyle/>
          <a:p>
            <a:pPr indent="0" marL="0">
              <a:buNone/>
            </a:pPr>
            <a:r>
              <a:rPr lang="en-US" sz="1300" dirty="0">
                <a:solidFill>
                  <a:srgbClr val="9AA1A8"/>
                </a:solidFill>
                <a:latin typeface="Arial" pitchFamily="34" charset="0"/>
                <a:ea typeface="Arial" pitchFamily="34" charset="-122"/>
                <a:cs typeface="Arial" pitchFamily="34" charset="-120"/>
              </a:rPr>
              <a:t>A DAG with retries, idempotent re-runs</a:t>
            </a:r>
            <a:endParaRPr lang="en-US" sz="1300" dirty="0"/>
          </a:p>
        </p:txBody>
      </p:sp>
      <p:sp>
        <p:nvSpPr>
          <p:cNvPr id="19" name="Text 17"/>
          <p:cNvSpPr/>
          <p:nvPr/>
        </p:nvSpPr>
        <p:spPr>
          <a:xfrm>
            <a:off x="7772400" y="4983480"/>
            <a:ext cx="3840480" cy="365760"/>
          </a:xfrm>
          <a:prstGeom prst="rect">
            <a:avLst/>
          </a:prstGeom>
          <a:noFill/>
          <a:ln/>
        </p:spPr>
        <p:txBody>
          <a:bodyPr wrap="square" lIns="0" tIns="0" rIns="0" bIns="0" rtlCol="0" anchor="ctr"/>
          <a:lstStyle/>
          <a:p>
            <a:pPr indent="0" marL="0">
              <a:buNone/>
            </a:pPr>
            <a:r>
              <a:rPr lang="en-US" sz="1300" dirty="0">
                <a:solidFill>
                  <a:srgbClr val="9AA1A8"/>
                </a:solidFill>
                <a:latin typeface="Arial" pitchFamily="34" charset="0"/>
                <a:ea typeface="Arial" pitchFamily="34" charset="-122"/>
                <a:cs typeface="Arial" pitchFamily="34" charset="-120"/>
              </a:rPr>
              <a:t>Real incremental extraction on created_date</a:t>
            </a:r>
            <a:endParaRPr lang="en-US" sz="1300" dirty="0"/>
          </a:p>
        </p:txBody>
      </p:sp>
      <p:sp>
        <p:nvSpPr>
          <p:cNvPr id="20" name="Text 18"/>
          <p:cNvSpPr/>
          <p:nvPr/>
        </p:nvSpPr>
        <p:spPr>
          <a:xfrm>
            <a:off x="7772400" y="5440680"/>
            <a:ext cx="3840480" cy="365760"/>
          </a:xfrm>
          <a:prstGeom prst="rect">
            <a:avLst/>
          </a:prstGeom>
          <a:noFill/>
          <a:ln/>
        </p:spPr>
        <p:txBody>
          <a:bodyPr wrap="square" lIns="0" tIns="0" rIns="0" bIns="0" rtlCol="0" anchor="ctr"/>
          <a:lstStyle/>
          <a:p>
            <a:pPr indent="0" marL="0">
              <a:buNone/>
            </a:pPr>
            <a:r>
              <a:rPr lang="en-US" sz="1300" dirty="0">
                <a:solidFill>
                  <a:srgbClr val="9AA1A8"/>
                </a:solidFill>
                <a:latin typeface="Arial" pitchFamily="34" charset="0"/>
                <a:ea typeface="Arial" pitchFamily="34" charset="-122"/>
                <a:cs typeface="Arial" pitchFamily="34" charset="-120"/>
              </a:rPr>
              <a:t>Documentation, weighted equally with code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822960" y="566928"/>
            <a:ext cx="10515600" cy="237744"/>
          </a:xfrm>
          <a:prstGeom prst="rect">
            <a:avLst/>
          </a:prstGeom>
          <a:noFill/>
          <a:ln/>
        </p:spPr>
        <p:txBody>
          <a:bodyPr wrap="square" lIns="0" tIns="0" rIns="0" bIns="0" rtlCol="0" anchor="ctr"/>
          <a:lstStyle/>
          <a:p>
            <a:pPr indent="0" marL="0">
              <a:buNone/>
            </a:pPr>
            <a:r>
              <a:rPr lang="en-US" sz="1050" spc="140" kern="0" dirty="0">
                <a:solidFill>
                  <a:srgbClr val="E8913A"/>
                </a:solidFill>
                <a:latin typeface="Courier New" pitchFamily="34" charset="0"/>
                <a:ea typeface="Courier New" pitchFamily="34" charset="-122"/>
                <a:cs typeface="Courier New" pitchFamily="34" charset="-120"/>
              </a:rPr>
              <a:t>02 — ARCHITECTURE</a:t>
            </a:r>
            <a:endParaRPr lang="en-US" sz="1050" dirty="0"/>
          </a:p>
        </p:txBody>
      </p:sp>
      <p:sp>
        <p:nvSpPr>
          <p:cNvPr id="3" name="Text 1"/>
          <p:cNvSpPr/>
          <p:nvPr/>
        </p:nvSpPr>
        <p:spPr>
          <a:xfrm>
            <a:off x="822960" y="868680"/>
            <a:ext cx="10515600" cy="603504"/>
          </a:xfrm>
          <a:prstGeom prst="rect">
            <a:avLst/>
          </a:prstGeom>
          <a:noFill/>
          <a:ln/>
        </p:spPr>
        <p:txBody>
          <a:bodyPr wrap="square" lIns="0" tIns="0" rIns="0" bIns="0" rtlCol="0" anchor="ctr"/>
          <a:lstStyle/>
          <a:p>
            <a:pPr indent="0" marL="0">
              <a:buNone/>
            </a:pPr>
            <a:r>
              <a:rPr lang="en-US" sz="3200" b="1" dirty="0">
                <a:solidFill>
                  <a:srgbClr val="EDEBE7"/>
                </a:solidFill>
                <a:latin typeface="Arial" pitchFamily="34" charset="0"/>
                <a:ea typeface="Arial" pitchFamily="34" charset="-122"/>
                <a:cs typeface="Arial" pitchFamily="34" charset="-120"/>
              </a:rPr>
              <a:t>Bronze → silver → gold</a:t>
            </a:r>
            <a:endParaRPr lang="en-US" sz="3200" dirty="0"/>
          </a:p>
        </p:txBody>
      </p:sp>
      <p:sp>
        <p:nvSpPr>
          <p:cNvPr id="4" name="Text 2"/>
          <p:cNvSpPr/>
          <p:nvPr/>
        </p:nvSpPr>
        <p:spPr>
          <a:xfrm>
            <a:off x="8595360" y="6327648"/>
            <a:ext cx="2743200" cy="237744"/>
          </a:xfrm>
          <a:prstGeom prst="rect">
            <a:avLst/>
          </a:prstGeom>
          <a:noFill/>
          <a:ln/>
        </p:spPr>
        <p:txBody>
          <a:bodyPr wrap="square" lIns="0" tIns="0" rIns="0" bIns="0" rtlCol="0" anchor="ctr"/>
          <a:lstStyle/>
          <a:p>
            <a:pPr algn="r" indent="0" marL="0">
              <a:buNone/>
            </a:pPr>
            <a:r>
              <a:rPr lang="en-US" sz="950" dirty="0">
                <a:solidFill>
                  <a:srgbClr val="676F77"/>
                </a:solidFill>
                <a:latin typeface="Courier New" pitchFamily="34" charset="0"/>
                <a:ea typeface="Courier New" pitchFamily="34" charset="-122"/>
                <a:cs typeface="Courier New" pitchFamily="34" charset="-120"/>
              </a:rPr>
              <a:t>03 / 08</a:t>
            </a:r>
            <a:endParaRPr lang="en-US" sz="950" dirty="0"/>
          </a:p>
        </p:txBody>
      </p:sp>
      <p:sp>
        <p:nvSpPr>
          <p:cNvPr id="5" name="Text 3"/>
          <p:cNvSpPr/>
          <p:nvPr/>
        </p:nvSpPr>
        <p:spPr>
          <a:xfrm>
            <a:off x="822960" y="1874520"/>
            <a:ext cx="10515600" cy="365760"/>
          </a:xfrm>
          <a:prstGeom prst="rect">
            <a:avLst/>
          </a:prstGeom>
          <a:noFill/>
          <a:ln/>
        </p:spPr>
        <p:txBody>
          <a:bodyPr wrap="square" lIns="0" tIns="0" rIns="0" bIns="0" rtlCol="0" anchor="ctr"/>
          <a:lstStyle/>
          <a:p>
            <a:pPr indent="0" marL="0">
              <a:buNone/>
            </a:pPr>
            <a:r>
              <a:rPr lang="en-US" sz="1500" dirty="0">
                <a:solidFill>
                  <a:srgbClr val="9AA1A8"/>
                </a:solidFill>
                <a:latin typeface="Arial" pitchFamily="34" charset="0"/>
                <a:ea typeface="Arial" pitchFamily="34" charset="-122"/>
                <a:cs typeface="Arial" pitchFamily="34" charset="-120"/>
              </a:rPr>
              <a:t>Raw stays raw. Everything after it is a dbt model I can re-run, diff and test.</a:t>
            </a:r>
            <a:endParaRPr lang="en-US" sz="1500" dirty="0"/>
          </a:p>
        </p:txBody>
      </p:sp>
      <p:sp>
        <p:nvSpPr>
          <p:cNvPr id="6" name="Text 4"/>
          <p:cNvSpPr/>
          <p:nvPr/>
        </p:nvSpPr>
        <p:spPr>
          <a:xfrm>
            <a:off x="822960" y="2651760"/>
            <a:ext cx="3048000" cy="274320"/>
          </a:xfrm>
          <a:prstGeom prst="rect">
            <a:avLst/>
          </a:prstGeom>
          <a:noFill/>
          <a:ln/>
        </p:spPr>
        <p:txBody>
          <a:bodyPr wrap="square" lIns="0" tIns="0" rIns="0" bIns="0" rtlCol="0" anchor="ctr"/>
          <a:lstStyle/>
          <a:p>
            <a:pPr indent="0" marL="0">
              <a:buNone/>
            </a:pPr>
            <a:r>
              <a:rPr lang="en-US" sz="1250" b="1" spc="140" kern="0" dirty="0">
                <a:solidFill>
                  <a:srgbClr val="E8913A"/>
                </a:solidFill>
                <a:latin typeface="Courier New" pitchFamily="34" charset="0"/>
                <a:ea typeface="Courier New" pitchFamily="34" charset="-122"/>
                <a:cs typeface="Courier New" pitchFamily="34" charset="-120"/>
              </a:rPr>
              <a:t>BRONZE</a:t>
            </a:r>
            <a:endParaRPr lang="en-US" sz="1250" dirty="0"/>
          </a:p>
        </p:txBody>
      </p:sp>
      <p:sp>
        <p:nvSpPr>
          <p:cNvPr id="7" name="Text 5"/>
          <p:cNvSpPr/>
          <p:nvPr/>
        </p:nvSpPr>
        <p:spPr>
          <a:xfrm>
            <a:off x="822960" y="2944368"/>
            <a:ext cx="3048000" cy="274320"/>
          </a:xfrm>
          <a:prstGeom prst="rect">
            <a:avLst/>
          </a:prstGeom>
          <a:noFill/>
          <a:ln/>
        </p:spPr>
        <p:txBody>
          <a:bodyPr wrap="square" lIns="0" tIns="0" rIns="0" bIns="0" rtlCol="0" anchor="ctr"/>
          <a:lstStyle/>
          <a:p>
            <a:pPr indent="0" marL="0">
              <a:buNone/>
            </a:pPr>
            <a:r>
              <a:rPr lang="en-US" sz="1250" dirty="0">
                <a:solidFill>
                  <a:srgbClr val="676F77"/>
                </a:solidFill>
                <a:latin typeface="Arial" pitchFamily="34" charset="0"/>
                <a:ea typeface="Arial" pitchFamily="34" charset="-122"/>
                <a:cs typeface="Arial" pitchFamily="34" charset="-120"/>
              </a:rPr>
              <a:t>landed as received</a:t>
            </a:r>
            <a:endParaRPr lang="en-US" sz="1250" dirty="0"/>
          </a:p>
        </p:txBody>
      </p:sp>
      <p:sp>
        <p:nvSpPr>
          <p:cNvPr id="8" name="Text 6"/>
          <p:cNvSpPr/>
          <p:nvPr/>
        </p:nvSpPr>
        <p:spPr>
          <a:xfrm>
            <a:off x="822960" y="3520440"/>
            <a:ext cx="3185160" cy="310896"/>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raw_service_requests</a:t>
            </a:r>
            <a:endParaRPr lang="en-US" sz="1250" dirty="0"/>
          </a:p>
        </p:txBody>
      </p:sp>
      <p:sp>
        <p:nvSpPr>
          <p:cNvPr id="9" name="Text 7"/>
          <p:cNvSpPr/>
          <p:nvPr/>
        </p:nvSpPr>
        <p:spPr>
          <a:xfrm>
            <a:off x="822960" y="4087368"/>
            <a:ext cx="3185160" cy="310896"/>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community_areas</a:t>
            </a:r>
            <a:endParaRPr lang="en-US" sz="1250" dirty="0"/>
          </a:p>
        </p:txBody>
      </p:sp>
      <p:sp>
        <p:nvSpPr>
          <p:cNvPr id="10" name="Text 8"/>
          <p:cNvSpPr/>
          <p:nvPr/>
        </p:nvSpPr>
        <p:spPr>
          <a:xfrm>
            <a:off x="822960" y="4654296"/>
            <a:ext cx="3185160" cy="310896"/>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ward_versions</a:t>
            </a:r>
            <a:endParaRPr lang="en-US" sz="1250" dirty="0"/>
          </a:p>
        </p:txBody>
      </p:sp>
      <p:sp>
        <p:nvSpPr>
          <p:cNvPr id="11" name="Text 9"/>
          <p:cNvSpPr/>
          <p:nvPr/>
        </p:nvSpPr>
        <p:spPr>
          <a:xfrm>
            <a:off x="3825240" y="3474720"/>
            <a:ext cx="457200" cy="365760"/>
          </a:xfrm>
          <a:prstGeom prst="rect">
            <a:avLst/>
          </a:prstGeom>
          <a:noFill/>
          <a:ln/>
        </p:spPr>
        <p:txBody>
          <a:bodyPr wrap="square" lIns="0" tIns="0" rIns="0" bIns="0" rtlCol="0" anchor="ctr"/>
          <a:lstStyle/>
          <a:p>
            <a:pPr algn="ctr" indent="0" marL="0">
              <a:buNone/>
            </a:pPr>
            <a:r>
              <a:rPr lang="en-US" sz="1800" dirty="0">
                <a:solidFill>
                  <a:srgbClr val="676F77"/>
                </a:solidFill>
                <a:latin typeface="Arial" pitchFamily="34" charset="0"/>
                <a:ea typeface="Arial" pitchFamily="34" charset="-122"/>
                <a:cs typeface="Arial" pitchFamily="34" charset="-120"/>
              </a:rPr>
              <a:t>→</a:t>
            </a:r>
            <a:endParaRPr lang="en-US" sz="1800" dirty="0"/>
          </a:p>
        </p:txBody>
      </p:sp>
      <p:sp>
        <p:nvSpPr>
          <p:cNvPr id="12" name="Text 10"/>
          <p:cNvSpPr/>
          <p:nvPr/>
        </p:nvSpPr>
        <p:spPr>
          <a:xfrm>
            <a:off x="4328160" y="2651760"/>
            <a:ext cx="3048000" cy="274320"/>
          </a:xfrm>
          <a:prstGeom prst="rect">
            <a:avLst/>
          </a:prstGeom>
          <a:noFill/>
          <a:ln/>
        </p:spPr>
        <p:txBody>
          <a:bodyPr wrap="square" lIns="0" tIns="0" rIns="0" bIns="0" rtlCol="0" anchor="ctr"/>
          <a:lstStyle/>
          <a:p>
            <a:pPr indent="0" marL="0">
              <a:buNone/>
            </a:pPr>
            <a:r>
              <a:rPr lang="en-US" sz="1250" b="1" spc="140" kern="0" dirty="0">
                <a:solidFill>
                  <a:srgbClr val="E8913A"/>
                </a:solidFill>
                <a:latin typeface="Courier New" pitchFamily="34" charset="0"/>
                <a:ea typeface="Courier New" pitchFamily="34" charset="-122"/>
                <a:cs typeface="Courier New" pitchFamily="34" charset="-120"/>
              </a:rPr>
              <a:t>SILVER</a:t>
            </a:r>
            <a:endParaRPr lang="en-US" sz="1250" dirty="0"/>
          </a:p>
        </p:txBody>
      </p:sp>
      <p:sp>
        <p:nvSpPr>
          <p:cNvPr id="13" name="Text 11"/>
          <p:cNvSpPr/>
          <p:nvPr/>
        </p:nvSpPr>
        <p:spPr>
          <a:xfrm>
            <a:off x="4328160" y="2944368"/>
            <a:ext cx="3048000" cy="274320"/>
          </a:xfrm>
          <a:prstGeom prst="rect">
            <a:avLst/>
          </a:prstGeom>
          <a:noFill/>
          <a:ln/>
        </p:spPr>
        <p:txBody>
          <a:bodyPr wrap="square" lIns="0" tIns="0" rIns="0" bIns="0" rtlCol="0" anchor="ctr"/>
          <a:lstStyle/>
          <a:p>
            <a:pPr indent="0" marL="0">
              <a:buNone/>
            </a:pPr>
            <a:r>
              <a:rPr lang="en-US" sz="1250" dirty="0">
                <a:solidFill>
                  <a:srgbClr val="676F77"/>
                </a:solidFill>
                <a:latin typeface="Arial" pitchFamily="34" charset="0"/>
                <a:ea typeface="Arial" pitchFamily="34" charset="-122"/>
                <a:cs typeface="Arial" pitchFamily="34" charset="-120"/>
              </a:rPr>
              <a:t>trimmed, cast, normalized</a:t>
            </a:r>
            <a:endParaRPr lang="en-US" sz="1250" dirty="0"/>
          </a:p>
        </p:txBody>
      </p:sp>
      <p:sp>
        <p:nvSpPr>
          <p:cNvPr id="14" name="Text 12"/>
          <p:cNvSpPr/>
          <p:nvPr/>
        </p:nvSpPr>
        <p:spPr>
          <a:xfrm>
            <a:off x="4328160" y="3520440"/>
            <a:ext cx="3185160" cy="310896"/>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stg_311_requests</a:t>
            </a:r>
            <a:endParaRPr lang="en-US" sz="1250" dirty="0"/>
          </a:p>
        </p:txBody>
      </p:sp>
      <p:sp>
        <p:nvSpPr>
          <p:cNvPr id="15" name="Text 13"/>
          <p:cNvSpPr/>
          <p:nvPr/>
        </p:nvSpPr>
        <p:spPr>
          <a:xfrm>
            <a:off x="4328160" y="4087368"/>
            <a:ext cx="3185160" cy="310896"/>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snap_service_requests_status</a:t>
            </a:r>
            <a:endParaRPr lang="en-US" sz="1250" dirty="0"/>
          </a:p>
        </p:txBody>
      </p:sp>
      <p:sp>
        <p:nvSpPr>
          <p:cNvPr id="16" name="Text 14"/>
          <p:cNvSpPr/>
          <p:nvPr/>
        </p:nvSpPr>
        <p:spPr>
          <a:xfrm>
            <a:off x="7330440" y="3474720"/>
            <a:ext cx="457200" cy="365760"/>
          </a:xfrm>
          <a:prstGeom prst="rect">
            <a:avLst/>
          </a:prstGeom>
          <a:noFill/>
          <a:ln/>
        </p:spPr>
        <p:txBody>
          <a:bodyPr wrap="square" lIns="0" tIns="0" rIns="0" bIns="0" rtlCol="0" anchor="ctr"/>
          <a:lstStyle/>
          <a:p>
            <a:pPr algn="ctr" indent="0" marL="0">
              <a:buNone/>
            </a:pPr>
            <a:r>
              <a:rPr lang="en-US" sz="1800" dirty="0">
                <a:solidFill>
                  <a:srgbClr val="676F77"/>
                </a:solidFill>
                <a:latin typeface="Arial" pitchFamily="34" charset="0"/>
                <a:ea typeface="Arial" pitchFamily="34" charset="-122"/>
                <a:cs typeface="Arial" pitchFamily="34" charset="-120"/>
              </a:rPr>
              <a:t>→</a:t>
            </a:r>
            <a:endParaRPr lang="en-US" sz="1800" dirty="0"/>
          </a:p>
        </p:txBody>
      </p:sp>
      <p:sp>
        <p:nvSpPr>
          <p:cNvPr id="17" name="Text 15"/>
          <p:cNvSpPr/>
          <p:nvPr/>
        </p:nvSpPr>
        <p:spPr>
          <a:xfrm>
            <a:off x="7833360" y="2651760"/>
            <a:ext cx="3048000" cy="274320"/>
          </a:xfrm>
          <a:prstGeom prst="rect">
            <a:avLst/>
          </a:prstGeom>
          <a:noFill/>
          <a:ln/>
        </p:spPr>
        <p:txBody>
          <a:bodyPr wrap="square" lIns="0" tIns="0" rIns="0" bIns="0" rtlCol="0" anchor="ctr"/>
          <a:lstStyle/>
          <a:p>
            <a:pPr indent="0" marL="0">
              <a:buNone/>
            </a:pPr>
            <a:r>
              <a:rPr lang="en-US" sz="1250" b="1" spc="140" kern="0" dirty="0">
                <a:solidFill>
                  <a:srgbClr val="E8913A"/>
                </a:solidFill>
                <a:latin typeface="Courier New" pitchFamily="34" charset="0"/>
                <a:ea typeface="Courier New" pitchFamily="34" charset="-122"/>
                <a:cs typeface="Courier New" pitchFamily="34" charset="-120"/>
              </a:rPr>
              <a:t>GOLD</a:t>
            </a:r>
            <a:endParaRPr lang="en-US" sz="1250" dirty="0"/>
          </a:p>
        </p:txBody>
      </p:sp>
      <p:sp>
        <p:nvSpPr>
          <p:cNvPr id="18" name="Text 16"/>
          <p:cNvSpPr/>
          <p:nvPr/>
        </p:nvSpPr>
        <p:spPr>
          <a:xfrm>
            <a:off x="7833360" y="2944368"/>
            <a:ext cx="3048000" cy="274320"/>
          </a:xfrm>
          <a:prstGeom prst="rect">
            <a:avLst/>
          </a:prstGeom>
          <a:noFill/>
          <a:ln/>
        </p:spPr>
        <p:txBody>
          <a:bodyPr wrap="square" lIns="0" tIns="0" rIns="0" bIns="0" rtlCol="0" anchor="ctr"/>
          <a:lstStyle/>
          <a:p>
            <a:pPr indent="0" marL="0">
              <a:buNone/>
            </a:pPr>
            <a:r>
              <a:rPr lang="en-US" sz="1250" dirty="0">
                <a:solidFill>
                  <a:srgbClr val="676F77"/>
                </a:solidFill>
                <a:latin typeface="Arial" pitchFamily="34" charset="0"/>
                <a:ea typeface="Arial" pitchFamily="34" charset="-122"/>
                <a:cs typeface="Arial" pitchFamily="34" charset="-120"/>
              </a:rPr>
              <a:t>query-ready</a:t>
            </a:r>
            <a:endParaRPr lang="en-US" sz="1250" dirty="0"/>
          </a:p>
        </p:txBody>
      </p:sp>
      <p:sp>
        <p:nvSpPr>
          <p:cNvPr id="19" name="Text 17"/>
          <p:cNvSpPr/>
          <p:nvPr/>
        </p:nvSpPr>
        <p:spPr>
          <a:xfrm>
            <a:off x="7833360" y="3520440"/>
            <a:ext cx="3185160" cy="310896"/>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fct_311_requests</a:t>
            </a:r>
            <a:endParaRPr lang="en-US" sz="1250" dirty="0"/>
          </a:p>
        </p:txBody>
      </p:sp>
      <p:sp>
        <p:nvSpPr>
          <p:cNvPr id="20" name="Text 18"/>
          <p:cNvSpPr/>
          <p:nvPr/>
        </p:nvSpPr>
        <p:spPr>
          <a:xfrm>
            <a:off x="7833360" y="4087368"/>
            <a:ext cx="3185160" cy="310896"/>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dim_* (4) + dim_ward</a:t>
            </a:r>
            <a:endParaRPr lang="en-US" sz="1250" dirty="0"/>
          </a:p>
        </p:txBody>
      </p:sp>
      <p:sp>
        <p:nvSpPr>
          <p:cNvPr id="21" name="Text 19"/>
          <p:cNvSpPr/>
          <p:nvPr/>
        </p:nvSpPr>
        <p:spPr>
          <a:xfrm>
            <a:off x="7833360" y="4654296"/>
            <a:ext cx="3185160" cy="310896"/>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mart_* (3)</a:t>
            </a:r>
            <a:endParaRPr lang="en-US" sz="1250" dirty="0"/>
          </a:p>
        </p:txBody>
      </p:sp>
      <p:sp>
        <p:nvSpPr>
          <p:cNvPr id="22" name="Shape 20"/>
          <p:cNvSpPr/>
          <p:nvPr/>
        </p:nvSpPr>
        <p:spPr>
          <a:xfrm>
            <a:off x="822960" y="5193792"/>
            <a:ext cx="10515600" cy="0"/>
          </a:xfrm>
          <a:prstGeom prst="line">
            <a:avLst/>
          </a:prstGeom>
          <a:noFill/>
          <a:ln w="12700">
            <a:solidFill>
              <a:srgbClr val="2E343C"/>
            </a:solidFill>
            <a:prstDash val="solid"/>
          </a:ln>
        </p:spPr>
      </p:sp>
      <p:sp>
        <p:nvSpPr>
          <p:cNvPr id="23" name="Text 21"/>
          <p:cNvSpPr/>
          <p:nvPr/>
        </p:nvSpPr>
        <p:spPr>
          <a:xfrm>
            <a:off x="822960" y="5413248"/>
            <a:ext cx="10515600" cy="411480"/>
          </a:xfrm>
          <a:prstGeom prst="rect">
            <a:avLst/>
          </a:prstGeom>
          <a:noFill/>
          <a:ln/>
        </p:spPr>
        <p:txBody>
          <a:bodyPr wrap="square" lIns="0" tIns="0" rIns="0" bIns="0" rtlCol="0" anchor="ctr"/>
          <a:lstStyle/>
          <a:p>
            <a:pPr indent="0" marL="0">
              <a:buNone/>
            </a:pPr>
            <a:r>
              <a:rPr lang="en-US" sz="1350" b="1" dirty="0">
                <a:solidFill>
                  <a:srgbClr val="EDEBE7"/>
                </a:solidFill>
                <a:latin typeface="Arial" pitchFamily="34" charset="0"/>
                <a:ea typeface="Arial" pitchFamily="34" charset="-122"/>
                <a:cs typeface="Arial" pitchFamily="34" charset="-120"/>
              </a:rPr>
              <a:t>One build-time image.  </a:t>
            </a:r>
            <a:pPr indent="0" marL="0">
              <a:buNone/>
            </a:pPr>
            <a:r>
              <a:rPr lang="en-US" sz="1350" dirty="0">
                <a:solidFill>
                  <a:srgbClr val="9AA1A8"/>
                </a:solidFill>
                <a:latin typeface="Arial" pitchFamily="34" charset="0"/>
                <a:ea typeface="Arial" pitchFamily="34" charset="-122"/>
                <a:cs typeface="Arial" pitchFamily="34" charset="-120"/>
              </a:rPr>
              <a:t>A Dockerfile bakes dbt, duckdb and pandas into the Airflow image, so containers don't reinstall the same packages on every start.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822960" y="566928"/>
            <a:ext cx="10515600" cy="237744"/>
          </a:xfrm>
          <a:prstGeom prst="rect">
            <a:avLst/>
          </a:prstGeom>
          <a:noFill/>
          <a:ln/>
        </p:spPr>
        <p:txBody>
          <a:bodyPr wrap="square" lIns="0" tIns="0" rIns="0" bIns="0" rtlCol="0" anchor="ctr"/>
          <a:lstStyle/>
          <a:p>
            <a:pPr indent="0" marL="0">
              <a:buNone/>
            </a:pPr>
            <a:r>
              <a:rPr lang="en-US" sz="1050" spc="140" kern="0" dirty="0">
                <a:solidFill>
                  <a:srgbClr val="E8913A"/>
                </a:solidFill>
                <a:latin typeface="Courier New" pitchFamily="34" charset="0"/>
                <a:ea typeface="Courier New" pitchFamily="34" charset="-122"/>
                <a:cs typeface="Courier New" pitchFamily="34" charset="-120"/>
              </a:rPr>
              <a:t>03 — ORCHESTRATION</a:t>
            </a:r>
            <a:endParaRPr lang="en-US" sz="1050" dirty="0"/>
          </a:p>
        </p:txBody>
      </p:sp>
      <p:sp>
        <p:nvSpPr>
          <p:cNvPr id="3" name="Text 1"/>
          <p:cNvSpPr/>
          <p:nvPr/>
        </p:nvSpPr>
        <p:spPr>
          <a:xfrm>
            <a:off x="822960" y="868680"/>
            <a:ext cx="10515600" cy="603504"/>
          </a:xfrm>
          <a:prstGeom prst="rect">
            <a:avLst/>
          </a:prstGeom>
          <a:noFill/>
          <a:ln/>
        </p:spPr>
        <p:txBody>
          <a:bodyPr wrap="square" lIns="0" tIns="0" rIns="0" bIns="0" rtlCol="0" anchor="ctr"/>
          <a:lstStyle/>
          <a:p>
            <a:pPr indent="0" marL="0">
              <a:buNone/>
            </a:pPr>
            <a:r>
              <a:rPr lang="en-US" sz="3200" b="1" dirty="0">
                <a:solidFill>
                  <a:srgbClr val="EDEBE7"/>
                </a:solidFill>
                <a:latin typeface="Arial" pitchFamily="34" charset="0"/>
                <a:ea typeface="Arial" pitchFamily="34" charset="-122"/>
                <a:cs typeface="Arial" pitchFamily="34" charset="-120"/>
              </a:rPr>
              <a:t>Eight tasks, and the order matters</a:t>
            </a:r>
            <a:endParaRPr lang="en-US" sz="3200" dirty="0"/>
          </a:p>
        </p:txBody>
      </p:sp>
      <p:sp>
        <p:nvSpPr>
          <p:cNvPr id="4" name="Text 2"/>
          <p:cNvSpPr/>
          <p:nvPr/>
        </p:nvSpPr>
        <p:spPr>
          <a:xfrm>
            <a:off x="8595360" y="6327648"/>
            <a:ext cx="2743200" cy="237744"/>
          </a:xfrm>
          <a:prstGeom prst="rect">
            <a:avLst/>
          </a:prstGeom>
          <a:noFill/>
          <a:ln/>
        </p:spPr>
        <p:txBody>
          <a:bodyPr wrap="square" lIns="0" tIns="0" rIns="0" bIns="0" rtlCol="0" anchor="ctr"/>
          <a:lstStyle/>
          <a:p>
            <a:pPr algn="r" indent="0" marL="0">
              <a:buNone/>
            </a:pPr>
            <a:r>
              <a:rPr lang="en-US" sz="950" dirty="0">
                <a:solidFill>
                  <a:srgbClr val="676F77"/>
                </a:solidFill>
                <a:latin typeface="Courier New" pitchFamily="34" charset="0"/>
                <a:ea typeface="Courier New" pitchFamily="34" charset="-122"/>
                <a:cs typeface="Courier New" pitchFamily="34" charset="-120"/>
              </a:rPr>
              <a:t>04 / 08</a:t>
            </a:r>
            <a:endParaRPr lang="en-US" sz="950" dirty="0"/>
          </a:p>
        </p:txBody>
      </p:sp>
      <p:sp>
        <p:nvSpPr>
          <p:cNvPr id="5" name="Text 3"/>
          <p:cNvSpPr/>
          <p:nvPr/>
        </p:nvSpPr>
        <p:spPr>
          <a:xfrm>
            <a:off x="822960" y="1874520"/>
            <a:ext cx="10515600" cy="365760"/>
          </a:xfrm>
          <a:prstGeom prst="rect">
            <a:avLst/>
          </a:prstGeom>
          <a:noFill/>
          <a:ln/>
        </p:spPr>
        <p:txBody>
          <a:bodyPr wrap="square" lIns="0" tIns="0" rIns="0" bIns="0" rtlCol="0" anchor="ctr"/>
          <a:lstStyle/>
          <a:p>
            <a:pPr indent="0" marL="0">
              <a:buNone/>
            </a:pPr>
            <a:r>
              <a:rPr lang="en-US" sz="1500" dirty="0">
                <a:solidFill>
                  <a:srgbClr val="9AA1A8"/>
                </a:solidFill>
                <a:latin typeface="Arial" pitchFamily="34" charset="0"/>
                <a:ea typeface="Arial" pitchFamily="34" charset="-122"/>
                <a:cs typeface="Arial" pitchFamily="34" charset="-120"/>
              </a:rPr>
              <a:t>The snapshot sits between the two halves of the dbt run — the fact table joins to dim_ward, so the history has to exist first.</a:t>
            </a:r>
            <a:endParaRPr lang="en-US" sz="1500" dirty="0"/>
          </a:p>
        </p:txBody>
      </p:sp>
      <p:sp>
        <p:nvSpPr>
          <p:cNvPr id="6" name="Text 4"/>
          <p:cNvSpPr/>
          <p:nvPr/>
        </p:nvSpPr>
        <p:spPr>
          <a:xfrm>
            <a:off x="822960" y="2651760"/>
            <a:ext cx="457200" cy="274320"/>
          </a:xfrm>
          <a:prstGeom prst="rect">
            <a:avLst/>
          </a:prstGeom>
          <a:noFill/>
          <a:ln/>
        </p:spPr>
        <p:txBody>
          <a:bodyPr wrap="square" lIns="0" tIns="0" rIns="0" bIns="0" rtlCol="0" anchor="ctr"/>
          <a:lstStyle/>
          <a:p>
            <a:pPr indent="0" marL="0">
              <a:buNone/>
            </a:pPr>
            <a:r>
              <a:rPr lang="en-US" sz="1150" dirty="0">
                <a:solidFill>
                  <a:srgbClr val="676F77"/>
                </a:solidFill>
                <a:latin typeface="Courier New" pitchFamily="34" charset="0"/>
                <a:ea typeface="Courier New" pitchFamily="34" charset="-122"/>
                <a:cs typeface="Courier New" pitchFamily="34" charset="-120"/>
              </a:rPr>
              <a:t>1</a:t>
            </a:r>
            <a:endParaRPr lang="en-US" sz="1150" dirty="0"/>
          </a:p>
        </p:txBody>
      </p:sp>
      <p:sp>
        <p:nvSpPr>
          <p:cNvPr id="7" name="Text 5"/>
          <p:cNvSpPr/>
          <p:nvPr/>
        </p:nvSpPr>
        <p:spPr>
          <a:xfrm>
            <a:off x="822960" y="2926080"/>
            <a:ext cx="2308860" cy="292608"/>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extract</a:t>
            </a:r>
            <a:endParaRPr lang="en-US" sz="1250" dirty="0"/>
          </a:p>
        </p:txBody>
      </p:sp>
      <p:sp>
        <p:nvSpPr>
          <p:cNvPr id="8" name="Text 6"/>
          <p:cNvSpPr/>
          <p:nvPr/>
        </p:nvSpPr>
        <p:spPr>
          <a:xfrm>
            <a:off x="822960" y="3218688"/>
            <a:ext cx="2308860" cy="274320"/>
          </a:xfrm>
          <a:prstGeom prst="rect">
            <a:avLst/>
          </a:prstGeom>
          <a:noFill/>
          <a:ln/>
        </p:spPr>
        <p:txBody>
          <a:bodyPr wrap="square" lIns="0" tIns="0" rIns="0" bIns="0" rtlCol="0" anchor="ctr"/>
          <a:lstStyle/>
          <a:p>
            <a:pPr indent="0" marL="0">
              <a:buNone/>
            </a:pPr>
            <a:r>
              <a:rPr lang="en-US" sz="1200" dirty="0">
                <a:solidFill>
                  <a:srgbClr val="9AA1A8"/>
                </a:solidFill>
                <a:latin typeface="Arial" pitchFamily="34" charset="0"/>
                <a:ea typeface="Arial" pitchFamily="34" charset="-122"/>
                <a:cs typeface="Arial" pitchFamily="34" charset="-120"/>
              </a:rPr>
              <a:t>Socrata → parquet</a:t>
            </a:r>
            <a:endParaRPr lang="en-US" sz="1200" dirty="0"/>
          </a:p>
        </p:txBody>
      </p:sp>
      <p:sp>
        <p:nvSpPr>
          <p:cNvPr id="9" name="Text 7"/>
          <p:cNvSpPr/>
          <p:nvPr/>
        </p:nvSpPr>
        <p:spPr>
          <a:xfrm>
            <a:off x="3451860" y="2651760"/>
            <a:ext cx="457200" cy="274320"/>
          </a:xfrm>
          <a:prstGeom prst="rect">
            <a:avLst/>
          </a:prstGeom>
          <a:noFill/>
          <a:ln/>
        </p:spPr>
        <p:txBody>
          <a:bodyPr wrap="square" lIns="0" tIns="0" rIns="0" bIns="0" rtlCol="0" anchor="ctr"/>
          <a:lstStyle/>
          <a:p>
            <a:pPr indent="0" marL="0">
              <a:buNone/>
            </a:pPr>
            <a:r>
              <a:rPr lang="en-US" sz="1150" dirty="0">
                <a:solidFill>
                  <a:srgbClr val="676F77"/>
                </a:solidFill>
                <a:latin typeface="Courier New" pitchFamily="34" charset="0"/>
                <a:ea typeface="Courier New" pitchFamily="34" charset="-122"/>
                <a:cs typeface="Courier New" pitchFamily="34" charset="-120"/>
              </a:rPr>
              <a:t>2</a:t>
            </a:r>
            <a:endParaRPr lang="en-US" sz="1150" dirty="0"/>
          </a:p>
        </p:txBody>
      </p:sp>
      <p:sp>
        <p:nvSpPr>
          <p:cNvPr id="10" name="Text 8"/>
          <p:cNvSpPr/>
          <p:nvPr/>
        </p:nvSpPr>
        <p:spPr>
          <a:xfrm>
            <a:off x="3451860" y="2926080"/>
            <a:ext cx="2308860" cy="292608"/>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load</a:t>
            </a:r>
            <a:endParaRPr lang="en-US" sz="1250" dirty="0"/>
          </a:p>
        </p:txBody>
      </p:sp>
      <p:sp>
        <p:nvSpPr>
          <p:cNvPr id="11" name="Text 9"/>
          <p:cNvSpPr/>
          <p:nvPr/>
        </p:nvSpPr>
        <p:spPr>
          <a:xfrm>
            <a:off x="3451860" y="3218688"/>
            <a:ext cx="2308860" cy="274320"/>
          </a:xfrm>
          <a:prstGeom prst="rect">
            <a:avLst/>
          </a:prstGeom>
          <a:noFill/>
          <a:ln/>
        </p:spPr>
        <p:txBody>
          <a:bodyPr wrap="square" lIns="0" tIns="0" rIns="0" bIns="0" rtlCol="0" anchor="ctr"/>
          <a:lstStyle/>
          <a:p>
            <a:pPr indent="0" marL="0">
              <a:buNone/>
            </a:pPr>
            <a:r>
              <a:rPr lang="en-US" sz="1200" dirty="0">
                <a:solidFill>
                  <a:srgbClr val="9AA1A8"/>
                </a:solidFill>
                <a:latin typeface="Arial" pitchFamily="34" charset="0"/>
                <a:ea typeface="Arial" pitchFamily="34" charset="-122"/>
                <a:cs typeface="Arial" pitchFamily="34" charset="-120"/>
              </a:rPr>
              <a:t>upsert into bronze</a:t>
            </a:r>
            <a:endParaRPr lang="en-US" sz="1200" dirty="0"/>
          </a:p>
        </p:txBody>
      </p:sp>
      <p:sp>
        <p:nvSpPr>
          <p:cNvPr id="12" name="Text 10"/>
          <p:cNvSpPr/>
          <p:nvPr/>
        </p:nvSpPr>
        <p:spPr>
          <a:xfrm>
            <a:off x="6080760" y="2651760"/>
            <a:ext cx="457200" cy="274320"/>
          </a:xfrm>
          <a:prstGeom prst="rect">
            <a:avLst/>
          </a:prstGeom>
          <a:noFill/>
          <a:ln/>
        </p:spPr>
        <p:txBody>
          <a:bodyPr wrap="square" lIns="0" tIns="0" rIns="0" bIns="0" rtlCol="0" anchor="ctr"/>
          <a:lstStyle/>
          <a:p>
            <a:pPr indent="0" marL="0">
              <a:buNone/>
            </a:pPr>
            <a:r>
              <a:rPr lang="en-US" sz="1150" dirty="0">
                <a:solidFill>
                  <a:srgbClr val="676F77"/>
                </a:solidFill>
                <a:latin typeface="Courier New" pitchFamily="34" charset="0"/>
                <a:ea typeface="Courier New" pitchFamily="34" charset="-122"/>
                <a:cs typeface="Courier New" pitchFamily="34" charset="-120"/>
              </a:rPr>
              <a:t>3</a:t>
            </a:r>
            <a:endParaRPr lang="en-US" sz="1150" dirty="0"/>
          </a:p>
        </p:txBody>
      </p:sp>
      <p:sp>
        <p:nvSpPr>
          <p:cNvPr id="13" name="Text 11"/>
          <p:cNvSpPr/>
          <p:nvPr/>
        </p:nvSpPr>
        <p:spPr>
          <a:xfrm>
            <a:off x="6080760" y="2926080"/>
            <a:ext cx="2308860" cy="292608"/>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dbt_seed</a:t>
            </a:r>
            <a:endParaRPr lang="en-US" sz="1250" dirty="0"/>
          </a:p>
        </p:txBody>
      </p:sp>
      <p:sp>
        <p:nvSpPr>
          <p:cNvPr id="14" name="Text 12"/>
          <p:cNvSpPr/>
          <p:nvPr/>
        </p:nvSpPr>
        <p:spPr>
          <a:xfrm>
            <a:off x="6080760" y="3218688"/>
            <a:ext cx="2308860" cy="274320"/>
          </a:xfrm>
          <a:prstGeom prst="rect">
            <a:avLst/>
          </a:prstGeom>
          <a:noFill/>
          <a:ln/>
        </p:spPr>
        <p:txBody>
          <a:bodyPr wrap="square" lIns="0" tIns="0" rIns="0" bIns="0" rtlCol="0" anchor="ctr"/>
          <a:lstStyle/>
          <a:p>
            <a:pPr indent="0" marL="0">
              <a:buNone/>
            </a:pPr>
            <a:r>
              <a:rPr lang="en-US" sz="1200" dirty="0">
                <a:solidFill>
                  <a:srgbClr val="9AA1A8"/>
                </a:solidFill>
                <a:latin typeface="Arial" pitchFamily="34" charset="0"/>
                <a:ea typeface="Arial" pitchFamily="34" charset="-122"/>
                <a:cs typeface="Arial" pitchFamily="34" charset="-120"/>
              </a:rPr>
              <a:t>reference tables</a:t>
            </a:r>
            <a:endParaRPr lang="en-US" sz="1200" dirty="0"/>
          </a:p>
        </p:txBody>
      </p:sp>
      <p:sp>
        <p:nvSpPr>
          <p:cNvPr id="15" name="Text 13"/>
          <p:cNvSpPr/>
          <p:nvPr/>
        </p:nvSpPr>
        <p:spPr>
          <a:xfrm>
            <a:off x="8709660" y="2651760"/>
            <a:ext cx="457200" cy="274320"/>
          </a:xfrm>
          <a:prstGeom prst="rect">
            <a:avLst/>
          </a:prstGeom>
          <a:noFill/>
          <a:ln/>
        </p:spPr>
        <p:txBody>
          <a:bodyPr wrap="square" lIns="0" tIns="0" rIns="0" bIns="0" rtlCol="0" anchor="ctr"/>
          <a:lstStyle/>
          <a:p>
            <a:pPr indent="0" marL="0">
              <a:buNone/>
            </a:pPr>
            <a:r>
              <a:rPr lang="en-US" sz="1150" dirty="0">
                <a:solidFill>
                  <a:srgbClr val="676F77"/>
                </a:solidFill>
                <a:latin typeface="Courier New" pitchFamily="34" charset="0"/>
                <a:ea typeface="Courier New" pitchFamily="34" charset="-122"/>
                <a:cs typeface="Courier New" pitchFamily="34" charset="-120"/>
              </a:rPr>
              <a:t>4</a:t>
            </a:r>
            <a:endParaRPr lang="en-US" sz="1150" dirty="0"/>
          </a:p>
        </p:txBody>
      </p:sp>
      <p:sp>
        <p:nvSpPr>
          <p:cNvPr id="16" name="Text 14"/>
          <p:cNvSpPr/>
          <p:nvPr/>
        </p:nvSpPr>
        <p:spPr>
          <a:xfrm>
            <a:off x="8709660" y="2926080"/>
            <a:ext cx="2308860" cy="292608"/>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transform_staging</a:t>
            </a:r>
            <a:endParaRPr lang="en-US" sz="1250" dirty="0"/>
          </a:p>
        </p:txBody>
      </p:sp>
      <p:sp>
        <p:nvSpPr>
          <p:cNvPr id="17" name="Text 15"/>
          <p:cNvSpPr/>
          <p:nvPr/>
        </p:nvSpPr>
        <p:spPr>
          <a:xfrm>
            <a:off x="8709660" y="3218688"/>
            <a:ext cx="2308860" cy="274320"/>
          </a:xfrm>
          <a:prstGeom prst="rect">
            <a:avLst/>
          </a:prstGeom>
          <a:noFill/>
          <a:ln/>
        </p:spPr>
        <p:txBody>
          <a:bodyPr wrap="square" lIns="0" tIns="0" rIns="0" bIns="0" rtlCol="0" anchor="ctr"/>
          <a:lstStyle/>
          <a:p>
            <a:pPr indent="0" marL="0">
              <a:buNone/>
            </a:pPr>
            <a:r>
              <a:rPr lang="en-US" sz="1200" dirty="0">
                <a:solidFill>
                  <a:srgbClr val="9AA1A8"/>
                </a:solidFill>
                <a:latin typeface="Arial" pitchFamily="34" charset="0"/>
                <a:ea typeface="Arial" pitchFamily="34" charset="-122"/>
                <a:cs typeface="Arial" pitchFamily="34" charset="-120"/>
              </a:rPr>
              <a:t>--select staging</a:t>
            </a:r>
            <a:endParaRPr lang="en-US" sz="1200" dirty="0"/>
          </a:p>
        </p:txBody>
      </p:sp>
      <p:sp>
        <p:nvSpPr>
          <p:cNvPr id="18" name="Text 16"/>
          <p:cNvSpPr/>
          <p:nvPr/>
        </p:nvSpPr>
        <p:spPr>
          <a:xfrm>
            <a:off x="822960" y="3794760"/>
            <a:ext cx="457200" cy="274320"/>
          </a:xfrm>
          <a:prstGeom prst="rect">
            <a:avLst/>
          </a:prstGeom>
          <a:noFill/>
          <a:ln/>
        </p:spPr>
        <p:txBody>
          <a:bodyPr wrap="square" lIns="0" tIns="0" rIns="0" bIns="0" rtlCol="0" anchor="ctr"/>
          <a:lstStyle/>
          <a:p>
            <a:pPr indent="0" marL="0">
              <a:buNone/>
            </a:pPr>
            <a:r>
              <a:rPr lang="en-US" sz="1150" dirty="0">
                <a:solidFill>
                  <a:srgbClr val="E8913A"/>
                </a:solidFill>
                <a:latin typeface="Courier New" pitchFamily="34" charset="0"/>
                <a:ea typeface="Courier New" pitchFamily="34" charset="-122"/>
                <a:cs typeface="Courier New" pitchFamily="34" charset="-120"/>
              </a:rPr>
              <a:t>5</a:t>
            </a:r>
            <a:endParaRPr lang="en-US" sz="1150" dirty="0"/>
          </a:p>
        </p:txBody>
      </p:sp>
      <p:sp>
        <p:nvSpPr>
          <p:cNvPr id="19" name="Text 17"/>
          <p:cNvSpPr/>
          <p:nvPr/>
        </p:nvSpPr>
        <p:spPr>
          <a:xfrm>
            <a:off x="822960" y="4069080"/>
            <a:ext cx="2308860" cy="292608"/>
          </a:xfrm>
          <a:prstGeom prst="rect">
            <a:avLst/>
          </a:prstGeom>
          <a:noFill/>
          <a:ln/>
        </p:spPr>
        <p:txBody>
          <a:bodyPr wrap="square" lIns="0" tIns="0" rIns="0" bIns="0" rtlCol="0" anchor="ctr"/>
          <a:lstStyle/>
          <a:p>
            <a:pPr indent="0" marL="0">
              <a:buNone/>
            </a:pPr>
            <a:r>
              <a:rPr lang="en-US" sz="1250" dirty="0">
                <a:solidFill>
                  <a:srgbClr val="E8913A"/>
                </a:solidFill>
                <a:latin typeface="Courier New" pitchFamily="34" charset="0"/>
                <a:ea typeface="Courier New" pitchFamily="34" charset="-122"/>
                <a:cs typeface="Courier New" pitchFamily="34" charset="-120"/>
              </a:rPr>
              <a:t>dbt_snapshot</a:t>
            </a:r>
            <a:endParaRPr lang="en-US" sz="1250" dirty="0"/>
          </a:p>
        </p:txBody>
      </p:sp>
      <p:sp>
        <p:nvSpPr>
          <p:cNvPr id="20" name="Text 18"/>
          <p:cNvSpPr/>
          <p:nvPr/>
        </p:nvSpPr>
        <p:spPr>
          <a:xfrm>
            <a:off x="822960" y="4361688"/>
            <a:ext cx="2308860" cy="274320"/>
          </a:xfrm>
          <a:prstGeom prst="rect">
            <a:avLst/>
          </a:prstGeom>
          <a:noFill/>
          <a:ln/>
        </p:spPr>
        <p:txBody>
          <a:bodyPr wrap="square" lIns="0" tIns="0" rIns="0" bIns="0" rtlCol="0" anchor="ctr"/>
          <a:lstStyle/>
          <a:p>
            <a:pPr indent="0" marL="0">
              <a:buNone/>
            </a:pPr>
            <a:r>
              <a:rPr lang="en-US" sz="1200" dirty="0">
                <a:solidFill>
                  <a:srgbClr val="9AA1A8"/>
                </a:solidFill>
                <a:latin typeface="Arial" pitchFamily="34" charset="0"/>
                <a:ea typeface="Arial" pitchFamily="34" charset="-122"/>
                <a:cs typeface="Arial" pitchFamily="34" charset="-120"/>
              </a:rPr>
              <a:t>SCD2: ward + status</a:t>
            </a:r>
            <a:endParaRPr lang="en-US" sz="1200" dirty="0"/>
          </a:p>
        </p:txBody>
      </p:sp>
      <p:sp>
        <p:nvSpPr>
          <p:cNvPr id="21" name="Text 19"/>
          <p:cNvSpPr/>
          <p:nvPr/>
        </p:nvSpPr>
        <p:spPr>
          <a:xfrm>
            <a:off x="3451860" y="3794760"/>
            <a:ext cx="457200" cy="274320"/>
          </a:xfrm>
          <a:prstGeom prst="rect">
            <a:avLst/>
          </a:prstGeom>
          <a:noFill/>
          <a:ln/>
        </p:spPr>
        <p:txBody>
          <a:bodyPr wrap="square" lIns="0" tIns="0" rIns="0" bIns="0" rtlCol="0" anchor="ctr"/>
          <a:lstStyle/>
          <a:p>
            <a:pPr indent="0" marL="0">
              <a:buNone/>
            </a:pPr>
            <a:r>
              <a:rPr lang="en-US" sz="1150" dirty="0">
                <a:solidFill>
                  <a:srgbClr val="676F77"/>
                </a:solidFill>
                <a:latin typeface="Courier New" pitchFamily="34" charset="0"/>
                <a:ea typeface="Courier New" pitchFamily="34" charset="-122"/>
                <a:cs typeface="Courier New" pitchFamily="34" charset="-120"/>
              </a:rPr>
              <a:t>6</a:t>
            </a:r>
            <a:endParaRPr lang="en-US" sz="1150" dirty="0"/>
          </a:p>
        </p:txBody>
      </p:sp>
      <p:sp>
        <p:nvSpPr>
          <p:cNvPr id="22" name="Text 20"/>
          <p:cNvSpPr/>
          <p:nvPr/>
        </p:nvSpPr>
        <p:spPr>
          <a:xfrm>
            <a:off x="3451860" y="4069080"/>
            <a:ext cx="2308860" cy="292608"/>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transform_marts</a:t>
            </a:r>
            <a:endParaRPr lang="en-US" sz="1250" dirty="0"/>
          </a:p>
        </p:txBody>
      </p:sp>
      <p:sp>
        <p:nvSpPr>
          <p:cNvPr id="23" name="Text 21"/>
          <p:cNvSpPr/>
          <p:nvPr/>
        </p:nvSpPr>
        <p:spPr>
          <a:xfrm>
            <a:off x="3451860" y="4361688"/>
            <a:ext cx="2308860" cy="274320"/>
          </a:xfrm>
          <a:prstGeom prst="rect">
            <a:avLst/>
          </a:prstGeom>
          <a:noFill/>
          <a:ln/>
        </p:spPr>
        <p:txBody>
          <a:bodyPr wrap="square" lIns="0" tIns="0" rIns="0" bIns="0" rtlCol="0" anchor="ctr"/>
          <a:lstStyle/>
          <a:p>
            <a:pPr indent="0" marL="0">
              <a:buNone/>
            </a:pPr>
            <a:r>
              <a:rPr lang="en-US" sz="1200" dirty="0">
                <a:solidFill>
                  <a:srgbClr val="9AA1A8"/>
                </a:solidFill>
                <a:latin typeface="Arial" pitchFamily="34" charset="0"/>
                <a:ea typeface="Arial" pitchFamily="34" charset="-122"/>
                <a:cs typeface="Arial" pitchFamily="34" charset="-120"/>
              </a:rPr>
              <a:t>--exclude staging</a:t>
            </a:r>
            <a:endParaRPr lang="en-US" sz="1200" dirty="0"/>
          </a:p>
        </p:txBody>
      </p:sp>
      <p:sp>
        <p:nvSpPr>
          <p:cNvPr id="24" name="Text 22"/>
          <p:cNvSpPr/>
          <p:nvPr/>
        </p:nvSpPr>
        <p:spPr>
          <a:xfrm>
            <a:off x="6080760" y="3794760"/>
            <a:ext cx="457200" cy="274320"/>
          </a:xfrm>
          <a:prstGeom prst="rect">
            <a:avLst/>
          </a:prstGeom>
          <a:noFill/>
          <a:ln/>
        </p:spPr>
        <p:txBody>
          <a:bodyPr wrap="square" lIns="0" tIns="0" rIns="0" bIns="0" rtlCol="0" anchor="ctr"/>
          <a:lstStyle/>
          <a:p>
            <a:pPr indent="0" marL="0">
              <a:buNone/>
            </a:pPr>
            <a:r>
              <a:rPr lang="en-US" sz="1150" dirty="0">
                <a:solidFill>
                  <a:srgbClr val="676F77"/>
                </a:solidFill>
                <a:latin typeface="Courier New" pitchFamily="34" charset="0"/>
                <a:ea typeface="Courier New" pitchFamily="34" charset="-122"/>
                <a:cs typeface="Courier New" pitchFamily="34" charset="-120"/>
              </a:rPr>
              <a:t>7</a:t>
            </a:r>
            <a:endParaRPr lang="en-US" sz="1150" dirty="0"/>
          </a:p>
        </p:txBody>
      </p:sp>
      <p:sp>
        <p:nvSpPr>
          <p:cNvPr id="25" name="Text 23"/>
          <p:cNvSpPr/>
          <p:nvPr/>
        </p:nvSpPr>
        <p:spPr>
          <a:xfrm>
            <a:off x="6080760" y="4069080"/>
            <a:ext cx="2308860" cy="292608"/>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validate</a:t>
            </a:r>
            <a:endParaRPr lang="en-US" sz="1250" dirty="0"/>
          </a:p>
        </p:txBody>
      </p:sp>
      <p:sp>
        <p:nvSpPr>
          <p:cNvPr id="26" name="Text 24"/>
          <p:cNvSpPr/>
          <p:nvPr/>
        </p:nvSpPr>
        <p:spPr>
          <a:xfrm>
            <a:off x="6080760" y="4361688"/>
            <a:ext cx="2308860" cy="274320"/>
          </a:xfrm>
          <a:prstGeom prst="rect">
            <a:avLst/>
          </a:prstGeom>
          <a:noFill/>
          <a:ln/>
        </p:spPr>
        <p:txBody>
          <a:bodyPr wrap="square" lIns="0" tIns="0" rIns="0" bIns="0" rtlCol="0" anchor="ctr"/>
          <a:lstStyle/>
          <a:p>
            <a:pPr indent="0" marL="0">
              <a:buNone/>
            </a:pPr>
            <a:r>
              <a:rPr lang="en-US" sz="1200" dirty="0">
                <a:solidFill>
                  <a:srgbClr val="9AA1A8"/>
                </a:solidFill>
                <a:latin typeface="Arial" pitchFamily="34" charset="0"/>
                <a:ea typeface="Arial" pitchFamily="34" charset="-122"/>
                <a:cs typeface="Arial" pitchFamily="34" charset="-120"/>
              </a:rPr>
              <a:t>dbt test</a:t>
            </a:r>
            <a:endParaRPr lang="en-US" sz="1200" dirty="0"/>
          </a:p>
        </p:txBody>
      </p:sp>
      <p:sp>
        <p:nvSpPr>
          <p:cNvPr id="27" name="Text 25"/>
          <p:cNvSpPr/>
          <p:nvPr/>
        </p:nvSpPr>
        <p:spPr>
          <a:xfrm>
            <a:off x="8709660" y="3794760"/>
            <a:ext cx="457200" cy="274320"/>
          </a:xfrm>
          <a:prstGeom prst="rect">
            <a:avLst/>
          </a:prstGeom>
          <a:noFill/>
          <a:ln/>
        </p:spPr>
        <p:txBody>
          <a:bodyPr wrap="square" lIns="0" tIns="0" rIns="0" bIns="0" rtlCol="0" anchor="ctr"/>
          <a:lstStyle/>
          <a:p>
            <a:pPr indent="0" marL="0">
              <a:buNone/>
            </a:pPr>
            <a:r>
              <a:rPr lang="en-US" sz="1150" dirty="0">
                <a:solidFill>
                  <a:srgbClr val="676F77"/>
                </a:solidFill>
                <a:latin typeface="Courier New" pitchFamily="34" charset="0"/>
                <a:ea typeface="Courier New" pitchFamily="34" charset="-122"/>
                <a:cs typeface="Courier New" pitchFamily="34" charset="-120"/>
              </a:rPr>
              <a:t>8</a:t>
            </a:r>
            <a:endParaRPr lang="en-US" sz="1150" dirty="0"/>
          </a:p>
        </p:txBody>
      </p:sp>
      <p:sp>
        <p:nvSpPr>
          <p:cNvPr id="28" name="Text 26"/>
          <p:cNvSpPr/>
          <p:nvPr/>
        </p:nvSpPr>
        <p:spPr>
          <a:xfrm>
            <a:off x="8709660" y="4069080"/>
            <a:ext cx="2308860" cy="292608"/>
          </a:xfrm>
          <a:prstGeom prst="rect">
            <a:avLst/>
          </a:prstGeom>
          <a:noFill/>
          <a:ln/>
        </p:spPr>
        <p:txBody>
          <a:bodyPr wrap="square" lIns="0" tIns="0" rIns="0" bIns="0" rtlCol="0" anchor="ctr"/>
          <a:lstStyle/>
          <a:p>
            <a:pPr indent="0" marL="0">
              <a:buNone/>
            </a:pPr>
            <a:r>
              <a:rPr lang="en-US" sz="1250" dirty="0">
                <a:solidFill>
                  <a:srgbClr val="EDEBE7"/>
                </a:solidFill>
                <a:latin typeface="Courier New" pitchFamily="34" charset="0"/>
                <a:ea typeface="Courier New" pitchFamily="34" charset="-122"/>
                <a:cs typeface="Courier New" pitchFamily="34" charset="-120"/>
              </a:rPr>
              <a:t>dbt_docs_generate</a:t>
            </a:r>
            <a:endParaRPr lang="en-US" sz="1250" dirty="0"/>
          </a:p>
        </p:txBody>
      </p:sp>
      <p:sp>
        <p:nvSpPr>
          <p:cNvPr id="29" name="Text 27"/>
          <p:cNvSpPr/>
          <p:nvPr/>
        </p:nvSpPr>
        <p:spPr>
          <a:xfrm>
            <a:off x="8709660" y="4361688"/>
            <a:ext cx="2308860" cy="274320"/>
          </a:xfrm>
          <a:prstGeom prst="rect">
            <a:avLst/>
          </a:prstGeom>
          <a:noFill/>
          <a:ln/>
        </p:spPr>
        <p:txBody>
          <a:bodyPr wrap="square" lIns="0" tIns="0" rIns="0" bIns="0" rtlCol="0" anchor="ctr"/>
          <a:lstStyle/>
          <a:p>
            <a:pPr indent="0" marL="0">
              <a:buNone/>
            </a:pPr>
            <a:r>
              <a:rPr lang="en-US" sz="1200" dirty="0">
                <a:solidFill>
                  <a:srgbClr val="9AA1A8"/>
                </a:solidFill>
                <a:latin typeface="Arial" pitchFamily="34" charset="0"/>
                <a:ea typeface="Arial" pitchFamily="34" charset="-122"/>
                <a:cs typeface="Arial" pitchFamily="34" charset="-120"/>
              </a:rPr>
              <a:t>refresh lineage</a:t>
            </a:r>
            <a:endParaRPr lang="en-US" sz="1200" dirty="0"/>
          </a:p>
        </p:txBody>
      </p:sp>
      <p:sp>
        <p:nvSpPr>
          <p:cNvPr id="30" name="Shape 28"/>
          <p:cNvSpPr/>
          <p:nvPr/>
        </p:nvSpPr>
        <p:spPr>
          <a:xfrm>
            <a:off x="822960" y="5257800"/>
            <a:ext cx="10515600" cy="0"/>
          </a:xfrm>
          <a:prstGeom prst="line">
            <a:avLst/>
          </a:prstGeom>
          <a:noFill/>
          <a:ln w="12700">
            <a:solidFill>
              <a:srgbClr val="2E343C"/>
            </a:solidFill>
            <a:prstDash val="solid"/>
          </a:ln>
        </p:spPr>
      </p:sp>
      <p:sp>
        <p:nvSpPr>
          <p:cNvPr id="31" name="Text 29"/>
          <p:cNvSpPr/>
          <p:nvPr/>
        </p:nvSpPr>
        <p:spPr>
          <a:xfrm>
            <a:off x="822960" y="5486400"/>
            <a:ext cx="3139440" cy="274320"/>
          </a:xfrm>
          <a:prstGeom prst="rect">
            <a:avLst/>
          </a:prstGeom>
          <a:noFill/>
          <a:ln/>
        </p:spPr>
        <p:txBody>
          <a:bodyPr wrap="square" lIns="0" tIns="0" rIns="0" bIns="0" rtlCol="0" anchor="ctr"/>
          <a:lstStyle/>
          <a:p>
            <a:pPr indent="0" marL="0">
              <a:buNone/>
            </a:pPr>
            <a:r>
              <a:rPr lang="en-US" sz="1200" dirty="0">
                <a:solidFill>
                  <a:srgbClr val="E8913A"/>
                </a:solidFill>
                <a:latin typeface="Courier New" pitchFamily="34" charset="0"/>
                <a:ea typeface="Courier New" pitchFamily="34" charset="-122"/>
                <a:cs typeface="Courier New" pitchFamily="34" charset="-120"/>
              </a:rPr>
              <a:t>@daily, one retry</a:t>
            </a:r>
            <a:endParaRPr lang="en-US" sz="1200" dirty="0"/>
          </a:p>
        </p:txBody>
      </p:sp>
      <p:sp>
        <p:nvSpPr>
          <p:cNvPr id="32" name="Text 30"/>
          <p:cNvSpPr/>
          <p:nvPr/>
        </p:nvSpPr>
        <p:spPr>
          <a:xfrm>
            <a:off x="822960" y="5779008"/>
            <a:ext cx="3139440" cy="548640"/>
          </a:xfrm>
          <a:prstGeom prst="rect">
            <a:avLst/>
          </a:prstGeom>
          <a:noFill/>
          <a:ln/>
        </p:spPr>
        <p:txBody>
          <a:bodyPr wrap="square" lIns="0" tIns="0" rIns="0" bIns="0" rtlCol="0" anchor="ctr"/>
          <a:lstStyle/>
          <a:p>
            <a:pPr indent="0" marL="0">
              <a:lnSpc>
                <a:spcPts val="1800"/>
              </a:lnSpc>
              <a:buNone/>
            </a:pPr>
            <a:r>
              <a:rPr lang="en-US" sz="1250" dirty="0">
                <a:solidFill>
                  <a:srgbClr val="9AA1A8"/>
                </a:solidFill>
                <a:latin typeface="Arial" pitchFamily="34" charset="0"/>
                <a:ea typeface="Arial" pitchFamily="34" charset="-122"/>
                <a:cs typeface="Arial" pitchFamily="34" charset="-120"/>
              </a:rPr>
              <a:t>No catchup — the watermark handles gaps.</a:t>
            </a:r>
            <a:endParaRPr lang="en-US" sz="1250" dirty="0"/>
          </a:p>
        </p:txBody>
      </p:sp>
      <p:sp>
        <p:nvSpPr>
          <p:cNvPr id="33" name="Text 31"/>
          <p:cNvSpPr/>
          <p:nvPr/>
        </p:nvSpPr>
        <p:spPr>
          <a:xfrm>
            <a:off x="4328160" y="5486400"/>
            <a:ext cx="3139440" cy="274320"/>
          </a:xfrm>
          <a:prstGeom prst="rect">
            <a:avLst/>
          </a:prstGeom>
          <a:noFill/>
          <a:ln/>
        </p:spPr>
        <p:txBody>
          <a:bodyPr wrap="square" lIns="0" tIns="0" rIns="0" bIns="0" rtlCol="0" anchor="ctr"/>
          <a:lstStyle/>
          <a:p>
            <a:pPr indent="0" marL="0">
              <a:buNone/>
            </a:pPr>
            <a:r>
              <a:rPr lang="en-US" sz="1200" dirty="0">
                <a:solidFill>
                  <a:srgbClr val="E8913A"/>
                </a:solidFill>
                <a:latin typeface="Courier New" pitchFamily="34" charset="0"/>
                <a:ea typeface="Courier New" pitchFamily="34" charset="-122"/>
                <a:cs typeface="Courier New" pitchFamily="34" charset="-120"/>
              </a:rPr>
              <a:t>max_active_runs=1</a:t>
            </a:r>
            <a:endParaRPr lang="en-US" sz="1200" dirty="0"/>
          </a:p>
        </p:txBody>
      </p:sp>
      <p:sp>
        <p:nvSpPr>
          <p:cNvPr id="34" name="Text 32"/>
          <p:cNvSpPr/>
          <p:nvPr/>
        </p:nvSpPr>
        <p:spPr>
          <a:xfrm>
            <a:off x="4328160" y="5779008"/>
            <a:ext cx="3139440" cy="548640"/>
          </a:xfrm>
          <a:prstGeom prst="rect">
            <a:avLst/>
          </a:prstGeom>
          <a:noFill/>
          <a:ln/>
        </p:spPr>
        <p:txBody>
          <a:bodyPr wrap="square" lIns="0" tIns="0" rIns="0" bIns="0" rtlCol="0" anchor="ctr"/>
          <a:lstStyle/>
          <a:p>
            <a:pPr indent="0" marL="0">
              <a:lnSpc>
                <a:spcPts val="1800"/>
              </a:lnSpc>
              <a:buNone/>
            </a:pPr>
            <a:r>
              <a:rPr lang="en-US" sz="1250" dirty="0">
                <a:solidFill>
                  <a:srgbClr val="9AA1A8"/>
                </a:solidFill>
                <a:latin typeface="Arial" pitchFamily="34" charset="0"/>
                <a:ea typeface="Arial" pitchFamily="34" charset="-122"/>
                <a:cs typeface="Arial" pitchFamily="34" charset="-120"/>
              </a:rPr>
              <a:t>DuckDB takes one writer. No overlapping runs.</a:t>
            </a:r>
            <a:endParaRPr lang="en-US" sz="1250" dirty="0"/>
          </a:p>
        </p:txBody>
      </p:sp>
      <p:sp>
        <p:nvSpPr>
          <p:cNvPr id="35" name="Text 33"/>
          <p:cNvSpPr/>
          <p:nvPr/>
        </p:nvSpPr>
        <p:spPr>
          <a:xfrm>
            <a:off x="7833360" y="5486400"/>
            <a:ext cx="3139440" cy="274320"/>
          </a:xfrm>
          <a:prstGeom prst="rect">
            <a:avLst/>
          </a:prstGeom>
          <a:noFill/>
          <a:ln/>
        </p:spPr>
        <p:txBody>
          <a:bodyPr wrap="square" lIns="0" tIns="0" rIns="0" bIns="0" rtlCol="0" anchor="ctr"/>
          <a:lstStyle/>
          <a:p>
            <a:pPr indent="0" marL="0">
              <a:buNone/>
            </a:pPr>
            <a:r>
              <a:rPr lang="en-US" sz="1200" dirty="0">
                <a:solidFill>
                  <a:srgbClr val="E8913A"/>
                </a:solidFill>
                <a:latin typeface="Courier New" pitchFamily="34" charset="0"/>
                <a:ea typeface="Courier New" pitchFamily="34" charset="-122"/>
                <a:cs typeface="Courier New" pitchFamily="34" charset="-120"/>
              </a:rPr>
              <a:t>Fails on purpose</a:t>
            </a:r>
            <a:endParaRPr lang="en-US" sz="1200" dirty="0"/>
          </a:p>
        </p:txBody>
      </p:sp>
      <p:sp>
        <p:nvSpPr>
          <p:cNvPr id="36" name="Text 34"/>
          <p:cNvSpPr/>
          <p:nvPr/>
        </p:nvSpPr>
        <p:spPr>
          <a:xfrm>
            <a:off x="7833360" y="5779008"/>
            <a:ext cx="3139440" cy="548640"/>
          </a:xfrm>
          <a:prstGeom prst="rect">
            <a:avLst/>
          </a:prstGeom>
          <a:noFill/>
          <a:ln/>
        </p:spPr>
        <p:txBody>
          <a:bodyPr wrap="square" lIns="0" tIns="0" rIns="0" bIns="0" rtlCol="0" anchor="ctr"/>
          <a:lstStyle/>
          <a:p>
            <a:pPr indent="0" marL="0">
              <a:lnSpc>
                <a:spcPts val="1800"/>
              </a:lnSpc>
              <a:buNone/>
            </a:pPr>
            <a:r>
              <a:rPr lang="en-US" sz="1250" dirty="0">
                <a:solidFill>
                  <a:srgbClr val="9AA1A8"/>
                </a:solidFill>
                <a:latin typeface="Arial" pitchFamily="34" charset="0"/>
                <a:ea typeface="Arial" pitchFamily="34" charset="-122"/>
                <a:cs typeface="Arial" pitchFamily="34" charset="-120"/>
              </a:rPr>
              <a:t>Hard test failures kill the run; known dirty data warns.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822960" y="566928"/>
            <a:ext cx="10515600" cy="237744"/>
          </a:xfrm>
          <a:prstGeom prst="rect">
            <a:avLst/>
          </a:prstGeom>
          <a:noFill/>
          <a:ln/>
        </p:spPr>
        <p:txBody>
          <a:bodyPr wrap="square" lIns="0" tIns="0" rIns="0" bIns="0" rtlCol="0" anchor="ctr"/>
          <a:lstStyle/>
          <a:p>
            <a:pPr indent="0" marL="0">
              <a:buNone/>
            </a:pPr>
            <a:r>
              <a:rPr lang="en-US" sz="1050" spc="140" kern="0" dirty="0">
                <a:solidFill>
                  <a:srgbClr val="E8913A"/>
                </a:solidFill>
                <a:latin typeface="Courier New" pitchFamily="34" charset="0"/>
                <a:ea typeface="Courier New" pitchFamily="34" charset="-122"/>
                <a:cs typeface="Courier New" pitchFamily="34" charset="-120"/>
              </a:rPr>
              <a:t>04 — MODELING</a:t>
            </a:r>
            <a:endParaRPr lang="en-US" sz="1050" dirty="0"/>
          </a:p>
        </p:txBody>
      </p:sp>
      <p:sp>
        <p:nvSpPr>
          <p:cNvPr id="3" name="Text 1"/>
          <p:cNvSpPr/>
          <p:nvPr/>
        </p:nvSpPr>
        <p:spPr>
          <a:xfrm>
            <a:off x="822960" y="868680"/>
            <a:ext cx="10515600" cy="603504"/>
          </a:xfrm>
          <a:prstGeom prst="rect">
            <a:avLst/>
          </a:prstGeom>
          <a:noFill/>
          <a:ln/>
        </p:spPr>
        <p:txBody>
          <a:bodyPr wrap="square" lIns="0" tIns="0" rIns="0" bIns="0" rtlCol="0" anchor="ctr"/>
          <a:lstStyle/>
          <a:p>
            <a:pPr indent="0" marL="0">
              <a:buNone/>
            </a:pPr>
            <a:r>
              <a:rPr lang="en-US" sz="3200" b="1" dirty="0">
                <a:solidFill>
                  <a:srgbClr val="EDEBE7"/>
                </a:solidFill>
                <a:latin typeface="Arial" pitchFamily="34" charset="0"/>
                <a:ea typeface="Arial" pitchFamily="34" charset="-122"/>
                <a:cs typeface="Arial" pitchFamily="34" charset="-120"/>
              </a:rPr>
              <a:t>One fact table, five dimensions</a:t>
            </a:r>
            <a:endParaRPr lang="en-US" sz="3200" dirty="0"/>
          </a:p>
        </p:txBody>
      </p:sp>
      <p:sp>
        <p:nvSpPr>
          <p:cNvPr id="4" name="Text 2"/>
          <p:cNvSpPr/>
          <p:nvPr/>
        </p:nvSpPr>
        <p:spPr>
          <a:xfrm>
            <a:off x="8595360" y="6327648"/>
            <a:ext cx="2743200" cy="237744"/>
          </a:xfrm>
          <a:prstGeom prst="rect">
            <a:avLst/>
          </a:prstGeom>
          <a:noFill/>
          <a:ln/>
        </p:spPr>
        <p:txBody>
          <a:bodyPr wrap="square" lIns="0" tIns="0" rIns="0" bIns="0" rtlCol="0" anchor="ctr"/>
          <a:lstStyle/>
          <a:p>
            <a:pPr algn="r" indent="0" marL="0">
              <a:buNone/>
            </a:pPr>
            <a:r>
              <a:rPr lang="en-US" sz="950" dirty="0">
                <a:solidFill>
                  <a:srgbClr val="676F77"/>
                </a:solidFill>
                <a:latin typeface="Courier New" pitchFamily="34" charset="0"/>
                <a:ea typeface="Courier New" pitchFamily="34" charset="-122"/>
                <a:cs typeface="Courier New" pitchFamily="34" charset="-120"/>
              </a:rPr>
              <a:t>05 / 08</a:t>
            </a:r>
            <a:endParaRPr lang="en-US" sz="950" dirty="0"/>
          </a:p>
        </p:txBody>
      </p:sp>
      <p:sp>
        <p:nvSpPr>
          <p:cNvPr id="5" name="Text 3"/>
          <p:cNvSpPr/>
          <p:nvPr/>
        </p:nvSpPr>
        <p:spPr>
          <a:xfrm>
            <a:off x="822960" y="1874520"/>
            <a:ext cx="10515600" cy="365760"/>
          </a:xfrm>
          <a:prstGeom prst="rect">
            <a:avLst/>
          </a:prstGeom>
          <a:noFill/>
          <a:ln/>
        </p:spPr>
        <p:txBody>
          <a:bodyPr wrap="square" lIns="0" tIns="0" rIns="0" bIns="0" rtlCol="0" anchor="ctr"/>
          <a:lstStyle/>
          <a:p>
            <a:pPr indent="0" marL="0">
              <a:buNone/>
            </a:pPr>
            <a:r>
              <a:rPr lang="en-US" sz="1500" dirty="0">
                <a:solidFill>
                  <a:srgbClr val="9AA1A8"/>
                </a:solidFill>
                <a:latin typeface="Arial" pitchFamily="34" charset="0"/>
                <a:ea typeface="Arial" pitchFamily="34" charset="-122"/>
                <a:cs typeface="Arial" pitchFamily="34" charset="-120"/>
              </a:rPr>
              <a:t>Grain is one service request. dim_ward joins on ward number and a validity interval — not on equality alone.</a:t>
            </a:r>
            <a:endParaRPr lang="en-US" sz="1500" dirty="0"/>
          </a:p>
        </p:txBody>
      </p:sp>
      <p:sp>
        <p:nvSpPr>
          <p:cNvPr id="6" name="Shape 4"/>
          <p:cNvSpPr/>
          <p:nvPr/>
        </p:nvSpPr>
        <p:spPr>
          <a:xfrm flipH="1" flipV="1">
            <a:off x="2240280" y="2743200"/>
            <a:ext cx="3840480" cy="868680"/>
          </a:xfrm>
          <a:prstGeom prst="line">
            <a:avLst/>
          </a:prstGeom>
          <a:noFill/>
          <a:ln w="15875">
            <a:solidFill>
              <a:srgbClr val="2E343C"/>
            </a:solidFill>
            <a:prstDash val="solid"/>
          </a:ln>
        </p:spPr>
      </p:sp>
      <p:sp>
        <p:nvSpPr>
          <p:cNvPr id="7" name="Shape 5"/>
          <p:cNvSpPr/>
          <p:nvPr/>
        </p:nvSpPr>
        <p:spPr>
          <a:xfrm flipV="1">
            <a:off x="6080760" y="2743200"/>
            <a:ext cx="3840480" cy="868680"/>
          </a:xfrm>
          <a:prstGeom prst="line">
            <a:avLst/>
          </a:prstGeom>
          <a:noFill/>
          <a:ln w="15875">
            <a:solidFill>
              <a:srgbClr val="2E343C"/>
            </a:solidFill>
            <a:prstDash val="solid"/>
          </a:ln>
        </p:spPr>
      </p:sp>
      <p:sp>
        <p:nvSpPr>
          <p:cNvPr id="8" name="Shape 6"/>
          <p:cNvSpPr/>
          <p:nvPr/>
        </p:nvSpPr>
        <p:spPr>
          <a:xfrm flipH="1">
            <a:off x="2011680" y="3611880"/>
            <a:ext cx="4069080" cy="804672"/>
          </a:xfrm>
          <a:prstGeom prst="line">
            <a:avLst/>
          </a:prstGeom>
          <a:noFill/>
          <a:ln w="15875">
            <a:solidFill>
              <a:srgbClr val="2E343C"/>
            </a:solidFill>
            <a:prstDash val="solid"/>
          </a:ln>
        </p:spPr>
      </p:sp>
      <p:sp>
        <p:nvSpPr>
          <p:cNvPr id="9" name="Shape 7"/>
          <p:cNvSpPr/>
          <p:nvPr/>
        </p:nvSpPr>
        <p:spPr>
          <a:xfrm flipH="1">
            <a:off x="6080760" y="3611880"/>
            <a:ext cx="0" cy="804672"/>
          </a:xfrm>
          <a:prstGeom prst="line">
            <a:avLst/>
          </a:prstGeom>
          <a:noFill/>
          <a:ln w="15875">
            <a:solidFill>
              <a:srgbClr val="2E343C"/>
            </a:solidFill>
            <a:prstDash val="solid"/>
          </a:ln>
        </p:spPr>
      </p:sp>
      <p:sp>
        <p:nvSpPr>
          <p:cNvPr id="10" name="Shape 8"/>
          <p:cNvSpPr/>
          <p:nvPr/>
        </p:nvSpPr>
        <p:spPr>
          <a:xfrm>
            <a:off x="6080760" y="3611880"/>
            <a:ext cx="4069080" cy="804672"/>
          </a:xfrm>
          <a:prstGeom prst="line">
            <a:avLst/>
          </a:prstGeom>
          <a:noFill/>
          <a:ln w="15875">
            <a:solidFill>
              <a:srgbClr val="2E343C"/>
            </a:solidFill>
            <a:prstDash val="solid"/>
          </a:ln>
        </p:spPr>
      </p:sp>
      <p:sp>
        <p:nvSpPr>
          <p:cNvPr id="11" name="Shape 9"/>
          <p:cNvSpPr/>
          <p:nvPr/>
        </p:nvSpPr>
        <p:spPr>
          <a:xfrm>
            <a:off x="1051560" y="2487168"/>
            <a:ext cx="2377440" cy="530352"/>
          </a:xfrm>
          <a:prstGeom prst="roundRect">
            <a:avLst>
              <a:gd name="adj" fmla="val 10345"/>
            </a:avLst>
          </a:prstGeom>
          <a:solidFill>
            <a:srgbClr val="16181C"/>
          </a:solidFill>
          <a:ln w="12700">
            <a:solidFill>
              <a:srgbClr val="2E343C"/>
            </a:solidFill>
            <a:prstDash val="solid"/>
          </a:ln>
        </p:spPr>
      </p:sp>
      <p:sp>
        <p:nvSpPr>
          <p:cNvPr id="12" name="Text 10"/>
          <p:cNvSpPr/>
          <p:nvPr/>
        </p:nvSpPr>
        <p:spPr>
          <a:xfrm>
            <a:off x="1197864" y="2532888"/>
            <a:ext cx="2084832" cy="256032"/>
          </a:xfrm>
          <a:prstGeom prst="rect">
            <a:avLst/>
          </a:prstGeom>
          <a:noFill/>
          <a:ln/>
        </p:spPr>
        <p:txBody>
          <a:bodyPr wrap="square" lIns="0" tIns="0" rIns="0" bIns="0" rtlCol="0" anchor="ctr"/>
          <a:lstStyle/>
          <a:p>
            <a:pPr indent="0" marL="0">
              <a:buNone/>
            </a:pPr>
            <a:r>
              <a:rPr lang="en-US" sz="1100" dirty="0">
                <a:solidFill>
                  <a:srgbClr val="EDEBE7"/>
                </a:solidFill>
                <a:latin typeface="Courier New" pitchFamily="34" charset="0"/>
                <a:ea typeface="Courier New" pitchFamily="34" charset="-122"/>
                <a:cs typeface="Courier New" pitchFamily="34" charset="-120"/>
              </a:rPr>
              <a:t>dim_location</a:t>
            </a:r>
            <a:endParaRPr lang="en-US" sz="1100" dirty="0"/>
          </a:p>
        </p:txBody>
      </p:sp>
      <p:sp>
        <p:nvSpPr>
          <p:cNvPr id="13" name="Text 11"/>
          <p:cNvSpPr/>
          <p:nvPr/>
        </p:nvSpPr>
        <p:spPr>
          <a:xfrm>
            <a:off x="1197864" y="2761488"/>
            <a:ext cx="2084832" cy="219456"/>
          </a:xfrm>
          <a:prstGeom prst="rect">
            <a:avLst/>
          </a:prstGeom>
          <a:noFill/>
          <a:ln/>
        </p:spPr>
        <p:txBody>
          <a:bodyPr wrap="square" lIns="0" tIns="0" rIns="0" bIns="0" rtlCol="0" anchor="ctr"/>
          <a:lstStyle/>
          <a:p>
            <a:pPr indent="0" marL="0">
              <a:buNone/>
            </a:pPr>
            <a:r>
              <a:rPr lang="en-US" sz="1000" dirty="0">
                <a:solidFill>
                  <a:srgbClr val="676F77"/>
                </a:solidFill>
                <a:latin typeface="Arial" pitchFamily="34" charset="0"/>
                <a:ea typeface="Arial" pitchFamily="34" charset="-122"/>
                <a:cs typeface="Arial" pitchFamily="34" charset="-120"/>
              </a:rPr>
              <a:t>~788,535 rows</a:t>
            </a:r>
            <a:endParaRPr lang="en-US" sz="1000" dirty="0"/>
          </a:p>
        </p:txBody>
      </p:sp>
      <p:sp>
        <p:nvSpPr>
          <p:cNvPr id="14" name="Shape 12"/>
          <p:cNvSpPr/>
          <p:nvPr/>
        </p:nvSpPr>
        <p:spPr>
          <a:xfrm>
            <a:off x="8732520" y="2487168"/>
            <a:ext cx="2377440" cy="530352"/>
          </a:xfrm>
          <a:prstGeom prst="roundRect">
            <a:avLst>
              <a:gd name="adj" fmla="val 10345"/>
            </a:avLst>
          </a:prstGeom>
          <a:solidFill>
            <a:srgbClr val="16181C"/>
          </a:solidFill>
          <a:ln w="12700">
            <a:solidFill>
              <a:srgbClr val="2E343C"/>
            </a:solidFill>
            <a:prstDash val="solid"/>
          </a:ln>
        </p:spPr>
      </p:sp>
      <p:sp>
        <p:nvSpPr>
          <p:cNvPr id="15" name="Text 13"/>
          <p:cNvSpPr/>
          <p:nvPr/>
        </p:nvSpPr>
        <p:spPr>
          <a:xfrm>
            <a:off x="8878824" y="2532888"/>
            <a:ext cx="2084832" cy="256032"/>
          </a:xfrm>
          <a:prstGeom prst="rect">
            <a:avLst/>
          </a:prstGeom>
          <a:noFill/>
          <a:ln/>
        </p:spPr>
        <p:txBody>
          <a:bodyPr wrap="square" lIns="0" tIns="0" rIns="0" bIns="0" rtlCol="0" anchor="ctr"/>
          <a:lstStyle/>
          <a:p>
            <a:pPr indent="0" marL="0">
              <a:buNone/>
            </a:pPr>
            <a:r>
              <a:rPr lang="en-US" sz="1100" dirty="0">
                <a:solidFill>
                  <a:srgbClr val="EDEBE7"/>
                </a:solidFill>
                <a:latin typeface="Courier New" pitchFamily="34" charset="0"/>
                <a:ea typeface="Courier New" pitchFamily="34" charset="-122"/>
                <a:cs typeface="Courier New" pitchFamily="34" charset="-120"/>
              </a:rPr>
              <a:t>dim_service_request_type</a:t>
            </a:r>
            <a:endParaRPr lang="en-US" sz="1100" dirty="0"/>
          </a:p>
        </p:txBody>
      </p:sp>
      <p:sp>
        <p:nvSpPr>
          <p:cNvPr id="16" name="Text 14"/>
          <p:cNvSpPr/>
          <p:nvPr/>
        </p:nvSpPr>
        <p:spPr>
          <a:xfrm>
            <a:off x="8878824" y="2761488"/>
            <a:ext cx="2084832" cy="219456"/>
          </a:xfrm>
          <a:prstGeom prst="rect">
            <a:avLst/>
          </a:prstGeom>
          <a:noFill/>
          <a:ln/>
        </p:spPr>
        <p:txBody>
          <a:bodyPr wrap="square" lIns="0" tIns="0" rIns="0" bIns="0" rtlCol="0" anchor="ctr"/>
          <a:lstStyle/>
          <a:p>
            <a:pPr indent="0" marL="0">
              <a:buNone/>
            </a:pPr>
            <a:r>
              <a:rPr lang="en-US" sz="1000" dirty="0">
                <a:solidFill>
                  <a:srgbClr val="676F77"/>
                </a:solidFill>
                <a:latin typeface="Arial" pitchFamily="34" charset="0"/>
                <a:ea typeface="Arial" pitchFamily="34" charset="-122"/>
                <a:cs typeface="Arial" pitchFamily="34" charset="-120"/>
              </a:rPr>
              <a:t>108 rows</a:t>
            </a:r>
            <a:endParaRPr lang="en-US" sz="1000" dirty="0"/>
          </a:p>
        </p:txBody>
      </p:sp>
      <p:sp>
        <p:nvSpPr>
          <p:cNvPr id="17" name="Shape 15"/>
          <p:cNvSpPr/>
          <p:nvPr/>
        </p:nvSpPr>
        <p:spPr>
          <a:xfrm>
            <a:off x="822960" y="4160520"/>
            <a:ext cx="2377440" cy="530352"/>
          </a:xfrm>
          <a:prstGeom prst="roundRect">
            <a:avLst>
              <a:gd name="adj" fmla="val 10345"/>
            </a:avLst>
          </a:prstGeom>
          <a:solidFill>
            <a:srgbClr val="16181C"/>
          </a:solidFill>
          <a:ln w="12700">
            <a:solidFill>
              <a:srgbClr val="2E343C"/>
            </a:solidFill>
            <a:prstDash val="solid"/>
          </a:ln>
        </p:spPr>
      </p:sp>
      <p:sp>
        <p:nvSpPr>
          <p:cNvPr id="18" name="Text 16"/>
          <p:cNvSpPr/>
          <p:nvPr/>
        </p:nvSpPr>
        <p:spPr>
          <a:xfrm>
            <a:off x="969264" y="4206240"/>
            <a:ext cx="2084832" cy="256032"/>
          </a:xfrm>
          <a:prstGeom prst="rect">
            <a:avLst/>
          </a:prstGeom>
          <a:noFill/>
          <a:ln/>
        </p:spPr>
        <p:txBody>
          <a:bodyPr wrap="square" lIns="0" tIns="0" rIns="0" bIns="0" rtlCol="0" anchor="ctr"/>
          <a:lstStyle/>
          <a:p>
            <a:pPr indent="0" marL="0">
              <a:buNone/>
            </a:pPr>
            <a:r>
              <a:rPr lang="en-US" sz="1100" dirty="0">
                <a:solidFill>
                  <a:srgbClr val="EDEBE7"/>
                </a:solidFill>
                <a:latin typeface="Courier New" pitchFamily="34" charset="0"/>
                <a:ea typeface="Courier New" pitchFamily="34" charset="-122"/>
                <a:cs typeface="Courier New" pitchFamily="34" charset="-120"/>
              </a:rPr>
              <a:t>dim_community_area</a:t>
            </a:r>
            <a:endParaRPr lang="en-US" sz="1100" dirty="0"/>
          </a:p>
        </p:txBody>
      </p:sp>
      <p:sp>
        <p:nvSpPr>
          <p:cNvPr id="19" name="Text 17"/>
          <p:cNvSpPr/>
          <p:nvPr/>
        </p:nvSpPr>
        <p:spPr>
          <a:xfrm>
            <a:off x="969264" y="4434840"/>
            <a:ext cx="2084832" cy="219456"/>
          </a:xfrm>
          <a:prstGeom prst="rect">
            <a:avLst/>
          </a:prstGeom>
          <a:noFill/>
          <a:ln/>
        </p:spPr>
        <p:txBody>
          <a:bodyPr wrap="square" lIns="0" tIns="0" rIns="0" bIns="0" rtlCol="0" anchor="ctr"/>
          <a:lstStyle/>
          <a:p>
            <a:pPr indent="0" marL="0">
              <a:buNone/>
            </a:pPr>
            <a:r>
              <a:rPr lang="en-US" sz="1000" dirty="0">
                <a:solidFill>
                  <a:srgbClr val="676F77"/>
                </a:solidFill>
                <a:latin typeface="Arial" pitchFamily="34" charset="0"/>
                <a:ea typeface="Arial" pitchFamily="34" charset="-122"/>
                <a:cs typeface="Arial" pitchFamily="34" charset="-120"/>
              </a:rPr>
              <a:t>77 rows</a:t>
            </a:r>
            <a:endParaRPr lang="en-US" sz="1000" dirty="0"/>
          </a:p>
        </p:txBody>
      </p:sp>
      <p:sp>
        <p:nvSpPr>
          <p:cNvPr id="20" name="Shape 18"/>
          <p:cNvSpPr/>
          <p:nvPr/>
        </p:nvSpPr>
        <p:spPr>
          <a:xfrm>
            <a:off x="4892040" y="4160520"/>
            <a:ext cx="2377440" cy="530352"/>
          </a:xfrm>
          <a:prstGeom prst="roundRect">
            <a:avLst>
              <a:gd name="adj" fmla="val 10345"/>
            </a:avLst>
          </a:prstGeom>
          <a:solidFill>
            <a:srgbClr val="16181C"/>
          </a:solidFill>
          <a:ln w="12700">
            <a:solidFill>
              <a:srgbClr val="2E343C"/>
            </a:solidFill>
            <a:prstDash val="solid"/>
          </a:ln>
        </p:spPr>
      </p:sp>
      <p:sp>
        <p:nvSpPr>
          <p:cNvPr id="21" name="Text 19"/>
          <p:cNvSpPr/>
          <p:nvPr/>
        </p:nvSpPr>
        <p:spPr>
          <a:xfrm>
            <a:off x="5038344" y="4206240"/>
            <a:ext cx="2084832" cy="256032"/>
          </a:xfrm>
          <a:prstGeom prst="rect">
            <a:avLst/>
          </a:prstGeom>
          <a:noFill/>
          <a:ln/>
        </p:spPr>
        <p:txBody>
          <a:bodyPr wrap="square" lIns="0" tIns="0" rIns="0" bIns="0" rtlCol="0" anchor="ctr"/>
          <a:lstStyle/>
          <a:p>
            <a:pPr indent="0" marL="0">
              <a:buNone/>
            </a:pPr>
            <a:r>
              <a:rPr lang="en-US" sz="1100" dirty="0">
                <a:solidFill>
                  <a:srgbClr val="EDEBE7"/>
                </a:solidFill>
                <a:latin typeface="Courier New" pitchFamily="34" charset="0"/>
                <a:ea typeface="Courier New" pitchFamily="34" charset="-122"/>
                <a:cs typeface="Courier New" pitchFamily="34" charset="-120"/>
              </a:rPr>
              <a:t>dim_date</a:t>
            </a:r>
            <a:endParaRPr lang="en-US" sz="1100" dirty="0"/>
          </a:p>
        </p:txBody>
      </p:sp>
      <p:sp>
        <p:nvSpPr>
          <p:cNvPr id="22" name="Text 20"/>
          <p:cNvSpPr/>
          <p:nvPr/>
        </p:nvSpPr>
        <p:spPr>
          <a:xfrm>
            <a:off x="5038344" y="4434840"/>
            <a:ext cx="2084832" cy="219456"/>
          </a:xfrm>
          <a:prstGeom prst="rect">
            <a:avLst/>
          </a:prstGeom>
          <a:noFill/>
          <a:ln/>
        </p:spPr>
        <p:txBody>
          <a:bodyPr wrap="square" lIns="0" tIns="0" rIns="0" bIns="0" rtlCol="0" anchor="ctr"/>
          <a:lstStyle/>
          <a:p>
            <a:pPr indent="0" marL="0">
              <a:buNone/>
            </a:pPr>
            <a:r>
              <a:rPr lang="en-US" sz="1000" dirty="0">
                <a:solidFill>
                  <a:srgbClr val="676F77"/>
                </a:solidFill>
                <a:latin typeface="Arial" pitchFamily="34" charset="0"/>
                <a:ea typeface="Arial" pitchFamily="34" charset="-122"/>
                <a:cs typeface="Arial" pitchFamily="34" charset="-120"/>
              </a:rPr>
              <a:t>5,844 rows</a:t>
            </a:r>
            <a:endParaRPr lang="en-US" sz="1000" dirty="0"/>
          </a:p>
        </p:txBody>
      </p:sp>
      <p:sp>
        <p:nvSpPr>
          <p:cNvPr id="23" name="Shape 21"/>
          <p:cNvSpPr/>
          <p:nvPr/>
        </p:nvSpPr>
        <p:spPr>
          <a:xfrm>
            <a:off x="8961120" y="4160520"/>
            <a:ext cx="2377440" cy="530352"/>
          </a:xfrm>
          <a:prstGeom prst="roundRect">
            <a:avLst>
              <a:gd name="adj" fmla="val 10345"/>
            </a:avLst>
          </a:prstGeom>
          <a:solidFill>
            <a:srgbClr val="16181C"/>
          </a:solidFill>
          <a:ln w="19050">
            <a:solidFill>
              <a:srgbClr val="E8913A"/>
            </a:solidFill>
            <a:prstDash val="solid"/>
          </a:ln>
        </p:spPr>
      </p:sp>
      <p:sp>
        <p:nvSpPr>
          <p:cNvPr id="24" name="Text 22"/>
          <p:cNvSpPr/>
          <p:nvPr/>
        </p:nvSpPr>
        <p:spPr>
          <a:xfrm>
            <a:off x="9107424" y="4206240"/>
            <a:ext cx="2084832" cy="256032"/>
          </a:xfrm>
          <a:prstGeom prst="rect">
            <a:avLst/>
          </a:prstGeom>
          <a:noFill/>
          <a:ln/>
        </p:spPr>
        <p:txBody>
          <a:bodyPr wrap="square" lIns="0" tIns="0" rIns="0" bIns="0" rtlCol="0" anchor="ctr"/>
          <a:lstStyle/>
          <a:p>
            <a:pPr indent="0" marL="0">
              <a:buNone/>
            </a:pPr>
            <a:r>
              <a:rPr lang="en-US" sz="1100" dirty="0">
                <a:solidFill>
                  <a:srgbClr val="E8913A"/>
                </a:solidFill>
                <a:latin typeface="Courier New" pitchFamily="34" charset="0"/>
                <a:ea typeface="Courier New" pitchFamily="34" charset="-122"/>
                <a:cs typeface="Courier New" pitchFamily="34" charset="-120"/>
              </a:rPr>
              <a:t>dim_ward · SCD2</a:t>
            </a:r>
            <a:endParaRPr lang="en-US" sz="1100" dirty="0"/>
          </a:p>
        </p:txBody>
      </p:sp>
      <p:sp>
        <p:nvSpPr>
          <p:cNvPr id="25" name="Text 23"/>
          <p:cNvSpPr/>
          <p:nvPr/>
        </p:nvSpPr>
        <p:spPr>
          <a:xfrm>
            <a:off x="9107424" y="4434840"/>
            <a:ext cx="2084832" cy="219456"/>
          </a:xfrm>
          <a:prstGeom prst="rect">
            <a:avLst/>
          </a:prstGeom>
          <a:noFill/>
          <a:ln/>
        </p:spPr>
        <p:txBody>
          <a:bodyPr wrap="square" lIns="0" tIns="0" rIns="0" bIns="0" rtlCol="0" anchor="ctr"/>
          <a:lstStyle/>
          <a:p>
            <a:pPr indent="0" marL="0">
              <a:buNone/>
            </a:pPr>
            <a:r>
              <a:rPr lang="en-US" sz="1000" dirty="0">
                <a:solidFill>
                  <a:srgbClr val="676F77"/>
                </a:solidFill>
                <a:latin typeface="Arial" pitchFamily="34" charset="0"/>
                <a:ea typeface="Arial" pitchFamily="34" charset="-122"/>
                <a:cs typeface="Arial" pitchFamily="34" charset="-120"/>
              </a:rPr>
              <a:t>100 rows</a:t>
            </a:r>
            <a:endParaRPr lang="en-US" sz="1000" dirty="0"/>
          </a:p>
        </p:txBody>
      </p:sp>
      <p:sp>
        <p:nvSpPr>
          <p:cNvPr id="26" name="Shape 24"/>
          <p:cNvSpPr/>
          <p:nvPr/>
        </p:nvSpPr>
        <p:spPr>
          <a:xfrm>
            <a:off x="4937760" y="3246120"/>
            <a:ext cx="2286000" cy="731520"/>
          </a:xfrm>
          <a:prstGeom prst="roundRect">
            <a:avLst>
              <a:gd name="adj" fmla="val 7500"/>
            </a:avLst>
          </a:prstGeom>
          <a:solidFill>
            <a:srgbClr val="16181C"/>
          </a:solidFill>
          <a:ln w="19050">
            <a:solidFill>
              <a:srgbClr val="EDEBE7"/>
            </a:solidFill>
            <a:prstDash val="solid"/>
          </a:ln>
        </p:spPr>
      </p:sp>
      <p:sp>
        <p:nvSpPr>
          <p:cNvPr id="27" name="Text 25"/>
          <p:cNvSpPr/>
          <p:nvPr/>
        </p:nvSpPr>
        <p:spPr>
          <a:xfrm>
            <a:off x="5102352" y="3355848"/>
            <a:ext cx="1956816" cy="274320"/>
          </a:xfrm>
          <a:prstGeom prst="rect">
            <a:avLst/>
          </a:prstGeom>
          <a:noFill/>
          <a:ln/>
        </p:spPr>
        <p:txBody>
          <a:bodyPr wrap="square" lIns="0" tIns="0" rIns="0" bIns="0" rtlCol="0" anchor="ctr"/>
          <a:lstStyle/>
          <a:p>
            <a:pPr indent="0" marL="0">
              <a:buNone/>
            </a:pPr>
            <a:r>
              <a:rPr lang="en-US" sz="1250" b="1" dirty="0">
                <a:solidFill>
                  <a:srgbClr val="EDEBE7"/>
                </a:solidFill>
                <a:latin typeface="Courier New" pitchFamily="34" charset="0"/>
                <a:ea typeface="Courier New" pitchFamily="34" charset="-122"/>
                <a:cs typeface="Courier New" pitchFamily="34" charset="-120"/>
              </a:rPr>
              <a:t>fct_311_requests</a:t>
            </a:r>
            <a:endParaRPr lang="en-US" sz="1250" dirty="0"/>
          </a:p>
        </p:txBody>
      </p:sp>
      <p:sp>
        <p:nvSpPr>
          <p:cNvPr id="28" name="Text 26"/>
          <p:cNvSpPr/>
          <p:nvPr/>
        </p:nvSpPr>
        <p:spPr>
          <a:xfrm>
            <a:off x="5102352" y="3630168"/>
            <a:ext cx="1956816" cy="237744"/>
          </a:xfrm>
          <a:prstGeom prst="rect">
            <a:avLst/>
          </a:prstGeom>
          <a:noFill/>
          <a:ln/>
        </p:spPr>
        <p:txBody>
          <a:bodyPr wrap="square" lIns="0" tIns="0" rIns="0" bIns="0" rtlCol="0" anchor="ctr"/>
          <a:lstStyle/>
          <a:p>
            <a:pPr indent="0" marL="0">
              <a:buNone/>
            </a:pPr>
            <a:r>
              <a:rPr lang="en-US" sz="1050" dirty="0">
                <a:solidFill>
                  <a:srgbClr val="9AA1A8"/>
                </a:solidFill>
                <a:latin typeface="Arial" pitchFamily="34" charset="0"/>
                <a:ea typeface="Arial" pitchFamily="34" charset="-122"/>
                <a:cs typeface="Arial" pitchFamily="34" charset="-120"/>
              </a:rPr>
              <a:t>7,065,148 rows</a:t>
            </a:r>
            <a:endParaRPr lang="en-US" sz="1050" dirty="0"/>
          </a:p>
        </p:txBody>
      </p:sp>
      <p:sp>
        <p:nvSpPr>
          <p:cNvPr id="29" name="Shape 27"/>
          <p:cNvSpPr/>
          <p:nvPr/>
        </p:nvSpPr>
        <p:spPr>
          <a:xfrm>
            <a:off x="822960" y="5257800"/>
            <a:ext cx="10515600" cy="0"/>
          </a:xfrm>
          <a:prstGeom prst="line">
            <a:avLst/>
          </a:prstGeom>
          <a:noFill/>
          <a:ln w="12700">
            <a:solidFill>
              <a:srgbClr val="2E343C"/>
            </a:solidFill>
            <a:prstDash val="solid"/>
          </a:ln>
        </p:spPr>
      </p:sp>
      <p:sp>
        <p:nvSpPr>
          <p:cNvPr id="30" name="Text 28"/>
          <p:cNvSpPr/>
          <p:nvPr/>
        </p:nvSpPr>
        <p:spPr>
          <a:xfrm>
            <a:off x="822960" y="5486400"/>
            <a:ext cx="10515600" cy="365760"/>
          </a:xfrm>
          <a:prstGeom prst="rect">
            <a:avLst/>
          </a:prstGeom>
          <a:noFill/>
          <a:ln/>
        </p:spPr>
        <p:txBody>
          <a:bodyPr wrap="square" lIns="0" tIns="0" rIns="0" bIns="0" rtlCol="0" anchor="ctr"/>
          <a:lstStyle/>
          <a:p>
            <a:pPr indent="0" marL="0">
              <a:buNone/>
            </a:pPr>
            <a:r>
              <a:rPr lang="en-US" sz="1300" b="1" dirty="0">
                <a:solidFill>
                  <a:srgbClr val="EDEBE7"/>
                </a:solidFill>
                <a:latin typeface="Arial" pitchFamily="34" charset="0"/>
                <a:ea typeface="Arial" pitchFamily="34" charset="-122"/>
                <a:cs typeface="Arial" pitchFamily="34" charset="-120"/>
              </a:rPr>
              <a:t>Normalization: I checked the data first.  </a:t>
            </a:r>
            <a:pPr indent="0" marL="0">
              <a:buNone/>
            </a:pPr>
            <a:r>
              <a:rPr lang="en-US" sz="1300" dirty="0">
                <a:solidFill>
                  <a:srgbClr val="9AA1A8"/>
                </a:solidFill>
                <a:latin typeface="Arial" pitchFamily="34" charset="0"/>
                <a:ea typeface="Arial" pitchFamily="34" charset="-122"/>
                <a:cs typeface="Arial" pitchFamily="34" charset="-120"/>
              </a:rPr>
              <a:t>status had one real legacy variant ('Closed' → 'completed'); sr_type had 108 pairs and zero casing variants; city and state had five.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822960" y="566928"/>
            <a:ext cx="10515600" cy="237744"/>
          </a:xfrm>
          <a:prstGeom prst="rect">
            <a:avLst/>
          </a:prstGeom>
          <a:noFill/>
          <a:ln/>
        </p:spPr>
        <p:txBody>
          <a:bodyPr wrap="square" lIns="0" tIns="0" rIns="0" bIns="0" rtlCol="0" anchor="ctr"/>
          <a:lstStyle/>
          <a:p>
            <a:pPr indent="0" marL="0">
              <a:buNone/>
            </a:pPr>
            <a:r>
              <a:rPr lang="en-US" sz="1050" spc="140" kern="0" dirty="0">
                <a:solidFill>
                  <a:srgbClr val="E8913A"/>
                </a:solidFill>
                <a:latin typeface="Courier New" pitchFamily="34" charset="0"/>
                <a:ea typeface="Courier New" pitchFamily="34" charset="-122"/>
                <a:cs typeface="Courier New" pitchFamily="34" charset="-120"/>
              </a:rPr>
              <a:t>05 — CORRECTNESS</a:t>
            </a:r>
            <a:endParaRPr lang="en-US" sz="1050" dirty="0"/>
          </a:p>
        </p:txBody>
      </p:sp>
      <p:sp>
        <p:nvSpPr>
          <p:cNvPr id="3" name="Text 1"/>
          <p:cNvSpPr/>
          <p:nvPr/>
        </p:nvSpPr>
        <p:spPr>
          <a:xfrm>
            <a:off x="822960" y="868680"/>
            <a:ext cx="10515600" cy="603504"/>
          </a:xfrm>
          <a:prstGeom prst="rect">
            <a:avLst/>
          </a:prstGeom>
          <a:noFill/>
          <a:ln/>
        </p:spPr>
        <p:txBody>
          <a:bodyPr wrap="square" lIns="0" tIns="0" rIns="0" bIns="0" rtlCol="0" anchor="ctr"/>
          <a:lstStyle/>
          <a:p>
            <a:pPr indent="0" marL="0">
              <a:buNone/>
            </a:pPr>
            <a:r>
              <a:rPr lang="en-US" sz="3200" b="1" dirty="0">
                <a:solidFill>
                  <a:srgbClr val="EDEBE7"/>
                </a:solidFill>
                <a:latin typeface="Arial" pitchFamily="34" charset="0"/>
                <a:ea typeface="Arial" pitchFamily="34" charset="-122"/>
                <a:cs typeface="Arial" pitchFamily="34" charset="-120"/>
              </a:rPr>
              <a:t>A dimension that remembers</a:t>
            </a:r>
            <a:endParaRPr lang="en-US" sz="3200" dirty="0"/>
          </a:p>
        </p:txBody>
      </p:sp>
      <p:sp>
        <p:nvSpPr>
          <p:cNvPr id="4" name="Text 2"/>
          <p:cNvSpPr/>
          <p:nvPr/>
        </p:nvSpPr>
        <p:spPr>
          <a:xfrm>
            <a:off x="8595360" y="6327648"/>
            <a:ext cx="2743200" cy="237744"/>
          </a:xfrm>
          <a:prstGeom prst="rect">
            <a:avLst/>
          </a:prstGeom>
          <a:noFill/>
          <a:ln/>
        </p:spPr>
        <p:txBody>
          <a:bodyPr wrap="square" lIns="0" tIns="0" rIns="0" bIns="0" rtlCol="0" anchor="ctr"/>
          <a:lstStyle/>
          <a:p>
            <a:pPr algn="r" indent="0" marL="0">
              <a:buNone/>
            </a:pPr>
            <a:r>
              <a:rPr lang="en-US" sz="950" dirty="0">
                <a:solidFill>
                  <a:srgbClr val="676F77"/>
                </a:solidFill>
                <a:latin typeface="Courier New" pitchFamily="34" charset="0"/>
                <a:ea typeface="Courier New" pitchFamily="34" charset="-122"/>
                <a:cs typeface="Courier New" pitchFamily="34" charset="-120"/>
              </a:rPr>
              <a:t>06 / 08</a:t>
            </a:r>
            <a:endParaRPr lang="en-US" sz="950" dirty="0"/>
          </a:p>
        </p:txBody>
      </p:sp>
      <p:sp>
        <p:nvSpPr>
          <p:cNvPr id="5" name="Text 3"/>
          <p:cNvSpPr/>
          <p:nvPr/>
        </p:nvSpPr>
        <p:spPr>
          <a:xfrm>
            <a:off x="822960" y="1874520"/>
            <a:ext cx="10515600" cy="365760"/>
          </a:xfrm>
          <a:prstGeom prst="rect">
            <a:avLst/>
          </a:prstGeom>
          <a:noFill/>
          <a:ln/>
        </p:spPr>
        <p:txBody>
          <a:bodyPr wrap="square" lIns="0" tIns="0" rIns="0" bIns="0" rtlCol="0" anchor="ctr"/>
          <a:lstStyle/>
          <a:p>
            <a:pPr indent="0" marL="0">
              <a:buNone/>
            </a:pPr>
            <a:r>
              <a:rPr lang="en-US" sz="1500" dirty="0">
                <a:solidFill>
                  <a:srgbClr val="9AA1A8"/>
                </a:solidFill>
                <a:latin typeface="Arial" pitchFamily="34" charset="0"/>
                <a:ea typeface="Arial" pitchFamily="34" charset="-122"/>
                <a:cs typeface="Arial" pitchFamily="34" charset="-120"/>
              </a:rPr>
              <a:t>Chicago redrew its ward boundaries on 2023-05-15. A request has to be read against the map in effect when it was filed.</a:t>
            </a:r>
            <a:endParaRPr lang="en-US" sz="1500" dirty="0"/>
          </a:p>
        </p:txBody>
      </p:sp>
      <p:sp>
        <p:nvSpPr>
          <p:cNvPr id="6" name="Shape 4"/>
          <p:cNvSpPr/>
          <p:nvPr/>
        </p:nvSpPr>
        <p:spPr>
          <a:xfrm>
            <a:off x="914400" y="3154680"/>
            <a:ext cx="6126480" cy="0"/>
          </a:xfrm>
          <a:prstGeom prst="line">
            <a:avLst/>
          </a:prstGeom>
          <a:noFill/>
          <a:ln w="25400">
            <a:solidFill>
              <a:srgbClr val="2E343C"/>
            </a:solidFill>
            <a:prstDash val="solid"/>
          </a:ln>
        </p:spPr>
      </p:sp>
      <p:sp>
        <p:nvSpPr>
          <p:cNvPr id="7" name="Shape 5"/>
          <p:cNvSpPr/>
          <p:nvPr/>
        </p:nvSpPr>
        <p:spPr>
          <a:xfrm>
            <a:off x="864108" y="3104388"/>
            <a:ext cx="100584" cy="100584"/>
          </a:xfrm>
          <a:prstGeom prst="ellipse">
            <a:avLst/>
          </a:prstGeom>
          <a:solidFill>
            <a:srgbClr val="9AA1A8"/>
          </a:solidFill>
          <a:ln w="12700">
            <a:solidFill>
              <a:srgbClr val="9AA1A8"/>
            </a:solidFill>
            <a:prstDash val="solid"/>
          </a:ln>
        </p:spPr>
      </p:sp>
      <p:sp>
        <p:nvSpPr>
          <p:cNvPr id="8" name="Text 6"/>
          <p:cNvSpPr/>
          <p:nvPr/>
        </p:nvSpPr>
        <p:spPr>
          <a:xfrm>
            <a:off x="182880" y="2697480"/>
            <a:ext cx="1463040" cy="237744"/>
          </a:xfrm>
          <a:prstGeom prst="rect">
            <a:avLst/>
          </a:prstGeom>
          <a:noFill/>
          <a:ln/>
        </p:spPr>
        <p:txBody>
          <a:bodyPr wrap="square" lIns="0" tIns="0" rIns="0" bIns="0" rtlCol="0" anchor="ctr"/>
          <a:lstStyle/>
          <a:p>
            <a:pPr algn="ctr" indent="0" marL="0">
              <a:buNone/>
            </a:pPr>
            <a:r>
              <a:rPr lang="en-US" sz="1050" dirty="0">
                <a:solidFill>
                  <a:srgbClr val="9AA1A8"/>
                </a:solidFill>
                <a:latin typeface="Courier New" pitchFamily="34" charset="0"/>
                <a:ea typeface="Courier New" pitchFamily="34" charset="-122"/>
                <a:cs typeface="Courier New" pitchFamily="34" charset="-120"/>
              </a:rPr>
              <a:t>2015</a:t>
            </a:r>
            <a:endParaRPr lang="en-US" sz="1050" dirty="0"/>
          </a:p>
        </p:txBody>
      </p:sp>
      <p:sp>
        <p:nvSpPr>
          <p:cNvPr id="9" name="Text 7"/>
          <p:cNvSpPr/>
          <p:nvPr/>
        </p:nvSpPr>
        <p:spPr>
          <a:xfrm>
            <a:off x="182880" y="3282696"/>
            <a:ext cx="1463040" cy="237744"/>
          </a:xfrm>
          <a:prstGeom prst="rect">
            <a:avLst/>
          </a:prstGeom>
          <a:noFill/>
          <a:ln/>
        </p:spPr>
        <p:txBody>
          <a:bodyPr wrap="square" lIns="0" tIns="0" rIns="0" bIns="0" rtlCol="0" anchor="ctr"/>
          <a:lstStyle/>
          <a:p>
            <a:pPr algn="ctr" indent="0" marL="0">
              <a:buNone/>
            </a:pPr>
            <a:r>
              <a:rPr lang="en-US" sz="1050" dirty="0">
                <a:solidFill>
                  <a:srgbClr val="676F77"/>
                </a:solidFill>
                <a:latin typeface="Arial" pitchFamily="34" charset="0"/>
                <a:ea typeface="Arial" pitchFamily="34" charset="-122"/>
                <a:cs typeface="Arial" pitchFamily="34" charset="-120"/>
              </a:rPr>
              <a:t>old_map</a:t>
            </a:r>
            <a:endParaRPr lang="en-US" sz="1050" dirty="0"/>
          </a:p>
        </p:txBody>
      </p:sp>
      <p:sp>
        <p:nvSpPr>
          <p:cNvPr id="10" name="Shape 8"/>
          <p:cNvSpPr/>
          <p:nvPr/>
        </p:nvSpPr>
        <p:spPr>
          <a:xfrm>
            <a:off x="3241548" y="3104388"/>
            <a:ext cx="100584" cy="100584"/>
          </a:xfrm>
          <a:prstGeom prst="ellipse">
            <a:avLst/>
          </a:prstGeom>
          <a:solidFill>
            <a:srgbClr val="E8913A"/>
          </a:solidFill>
          <a:ln w="12700">
            <a:solidFill>
              <a:srgbClr val="E8913A"/>
            </a:solidFill>
            <a:prstDash val="solid"/>
          </a:ln>
        </p:spPr>
      </p:sp>
      <p:sp>
        <p:nvSpPr>
          <p:cNvPr id="11" name="Text 9"/>
          <p:cNvSpPr/>
          <p:nvPr/>
        </p:nvSpPr>
        <p:spPr>
          <a:xfrm>
            <a:off x="2560320" y="2697480"/>
            <a:ext cx="1463040" cy="237744"/>
          </a:xfrm>
          <a:prstGeom prst="rect">
            <a:avLst/>
          </a:prstGeom>
          <a:noFill/>
          <a:ln/>
        </p:spPr>
        <p:txBody>
          <a:bodyPr wrap="square" lIns="0" tIns="0" rIns="0" bIns="0" rtlCol="0" anchor="ctr"/>
          <a:lstStyle/>
          <a:p>
            <a:pPr algn="ctr" indent="0" marL="0">
              <a:buNone/>
            </a:pPr>
            <a:r>
              <a:rPr lang="en-US" sz="1050" dirty="0">
                <a:solidFill>
                  <a:srgbClr val="E8913A"/>
                </a:solidFill>
                <a:latin typeface="Courier New" pitchFamily="34" charset="0"/>
                <a:ea typeface="Courier New" pitchFamily="34" charset="-122"/>
                <a:cs typeface="Courier New" pitchFamily="34" charset="-120"/>
              </a:rPr>
              <a:t>2023-05-15</a:t>
            </a:r>
            <a:endParaRPr lang="en-US" sz="1050" dirty="0"/>
          </a:p>
        </p:txBody>
      </p:sp>
      <p:sp>
        <p:nvSpPr>
          <p:cNvPr id="12" name="Text 10"/>
          <p:cNvSpPr/>
          <p:nvPr/>
        </p:nvSpPr>
        <p:spPr>
          <a:xfrm>
            <a:off x="2560320" y="3282696"/>
            <a:ext cx="1463040" cy="237744"/>
          </a:xfrm>
          <a:prstGeom prst="rect">
            <a:avLst/>
          </a:prstGeom>
          <a:noFill/>
          <a:ln/>
        </p:spPr>
        <p:txBody>
          <a:bodyPr wrap="square" lIns="0" tIns="0" rIns="0" bIns="0" rtlCol="0" anchor="ctr"/>
          <a:lstStyle/>
          <a:p>
            <a:pPr algn="ctr" indent="0" marL="0">
              <a:buNone/>
            </a:pPr>
            <a:r>
              <a:rPr lang="en-US" sz="1050" dirty="0">
                <a:solidFill>
                  <a:srgbClr val="676F77"/>
                </a:solidFill>
                <a:latin typeface="Arial" pitchFamily="34" charset="0"/>
                <a:ea typeface="Arial" pitchFamily="34" charset="-122"/>
                <a:cs typeface="Arial" pitchFamily="34" charset="-120"/>
              </a:rPr>
              <a:t>redistricting</a:t>
            </a:r>
            <a:endParaRPr lang="en-US" sz="1050" dirty="0"/>
          </a:p>
        </p:txBody>
      </p:sp>
      <p:sp>
        <p:nvSpPr>
          <p:cNvPr id="13" name="Shape 11"/>
          <p:cNvSpPr/>
          <p:nvPr/>
        </p:nvSpPr>
        <p:spPr>
          <a:xfrm>
            <a:off x="5253228" y="3104388"/>
            <a:ext cx="100584" cy="100584"/>
          </a:xfrm>
          <a:prstGeom prst="ellipse">
            <a:avLst/>
          </a:prstGeom>
          <a:solidFill>
            <a:srgbClr val="9AA1A8"/>
          </a:solidFill>
          <a:ln w="12700">
            <a:solidFill>
              <a:srgbClr val="9AA1A8"/>
            </a:solidFill>
            <a:prstDash val="solid"/>
          </a:ln>
        </p:spPr>
      </p:sp>
      <p:sp>
        <p:nvSpPr>
          <p:cNvPr id="14" name="Text 12"/>
          <p:cNvSpPr/>
          <p:nvPr/>
        </p:nvSpPr>
        <p:spPr>
          <a:xfrm>
            <a:off x="4572000" y="2697480"/>
            <a:ext cx="1463040" cy="237744"/>
          </a:xfrm>
          <a:prstGeom prst="rect">
            <a:avLst/>
          </a:prstGeom>
          <a:noFill/>
          <a:ln/>
        </p:spPr>
        <p:txBody>
          <a:bodyPr wrap="square" lIns="0" tIns="0" rIns="0" bIns="0" rtlCol="0" anchor="ctr"/>
          <a:lstStyle/>
          <a:p>
            <a:pPr algn="ctr" indent="0" marL="0">
              <a:buNone/>
            </a:pPr>
            <a:r>
              <a:rPr lang="en-US" sz="1050" dirty="0">
                <a:solidFill>
                  <a:srgbClr val="9AA1A8"/>
                </a:solidFill>
                <a:latin typeface="Courier New" pitchFamily="34" charset="0"/>
                <a:ea typeface="Courier New" pitchFamily="34" charset="-122"/>
                <a:cs typeface="Courier New" pitchFamily="34" charset="-120"/>
              </a:rPr>
              <a:t>2026</a:t>
            </a:r>
            <a:endParaRPr lang="en-US" sz="1050" dirty="0"/>
          </a:p>
        </p:txBody>
      </p:sp>
      <p:sp>
        <p:nvSpPr>
          <p:cNvPr id="15" name="Text 13"/>
          <p:cNvSpPr/>
          <p:nvPr/>
        </p:nvSpPr>
        <p:spPr>
          <a:xfrm>
            <a:off x="4572000" y="3282696"/>
            <a:ext cx="1463040" cy="237744"/>
          </a:xfrm>
          <a:prstGeom prst="rect">
            <a:avLst/>
          </a:prstGeom>
          <a:noFill/>
          <a:ln/>
        </p:spPr>
        <p:txBody>
          <a:bodyPr wrap="square" lIns="0" tIns="0" rIns="0" bIns="0" rtlCol="0" anchor="ctr"/>
          <a:lstStyle/>
          <a:p>
            <a:pPr algn="ctr" indent="0" marL="0">
              <a:buNone/>
            </a:pPr>
            <a:r>
              <a:rPr lang="en-US" sz="1050" dirty="0">
                <a:solidFill>
                  <a:srgbClr val="676F77"/>
                </a:solidFill>
                <a:latin typeface="Arial" pitchFamily="34" charset="0"/>
                <a:ea typeface="Arial" pitchFamily="34" charset="-122"/>
                <a:cs typeface="Arial" pitchFamily="34" charset="-120"/>
              </a:rPr>
              <a:t>pipeline starts</a:t>
            </a:r>
            <a:endParaRPr lang="en-US" sz="1050" dirty="0"/>
          </a:p>
        </p:txBody>
      </p:sp>
      <p:sp>
        <p:nvSpPr>
          <p:cNvPr id="16" name="Shape 14"/>
          <p:cNvSpPr/>
          <p:nvPr/>
        </p:nvSpPr>
        <p:spPr>
          <a:xfrm>
            <a:off x="6990588" y="3104388"/>
            <a:ext cx="100584" cy="100584"/>
          </a:xfrm>
          <a:prstGeom prst="ellipse">
            <a:avLst/>
          </a:prstGeom>
          <a:solidFill>
            <a:srgbClr val="9AA1A8"/>
          </a:solidFill>
          <a:ln w="12700">
            <a:solidFill>
              <a:srgbClr val="9AA1A8"/>
            </a:solidFill>
            <a:prstDash val="solid"/>
          </a:ln>
        </p:spPr>
      </p:sp>
      <p:sp>
        <p:nvSpPr>
          <p:cNvPr id="17" name="Text 15"/>
          <p:cNvSpPr/>
          <p:nvPr/>
        </p:nvSpPr>
        <p:spPr>
          <a:xfrm>
            <a:off x="6309360" y="2697480"/>
            <a:ext cx="1463040" cy="237744"/>
          </a:xfrm>
          <a:prstGeom prst="rect">
            <a:avLst/>
          </a:prstGeom>
          <a:noFill/>
          <a:ln/>
        </p:spPr>
        <p:txBody>
          <a:bodyPr wrap="square" lIns="0" tIns="0" rIns="0" bIns="0" rtlCol="0" anchor="ctr"/>
          <a:lstStyle/>
          <a:p>
            <a:pPr algn="ctr" indent="0" marL="0">
              <a:buNone/>
            </a:pPr>
            <a:r>
              <a:rPr lang="en-US" sz="1050" dirty="0">
                <a:solidFill>
                  <a:srgbClr val="9AA1A8"/>
                </a:solidFill>
                <a:latin typeface="Courier New" pitchFamily="34" charset="0"/>
                <a:ea typeface="Courier New" pitchFamily="34" charset="-122"/>
                <a:cs typeface="Courier New" pitchFamily="34" charset="-120"/>
              </a:rPr>
              <a:t>today</a:t>
            </a:r>
            <a:endParaRPr lang="en-US" sz="1050" dirty="0"/>
          </a:p>
        </p:txBody>
      </p:sp>
      <p:sp>
        <p:nvSpPr>
          <p:cNvPr id="18" name="Text 16"/>
          <p:cNvSpPr/>
          <p:nvPr/>
        </p:nvSpPr>
        <p:spPr>
          <a:xfrm>
            <a:off x="6309360" y="3282696"/>
            <a:ext cx="1463040" cy="237744"/>
          </a:xfrm>
          <a:prstGeom prst="rect">
            <a:avLst/>
          </a:prstGeom>
          <a:noFill/>
          <a:ln/>
        </p:spPr>
        <p:txBody>
          <a:bodyPr wrap="square" lIns="0" tIns="0" rIns="0" bIns="0" rtlCol="0" anchor="ctr"/>
          <a:lstStyle/>
          <a:p>
            <a:pPr algn="ctr" indent="0" marL="0">
              <a:buNone/>
            </a:pPr>
            <a:r>
              <a:rPr lang="en-US" sz="1050" dirty="0">
                <a:solidFill>
                  <a:srgbClr val="676F77"/>
                </a:solidFill>
                <a:latin typeface="Arial" pitchFamily="34" charset="0"/>
                <a:ea typeface="Arial" pitchFamily="34" charset="-122"/>
                <a:cs typeface="Arial" pitchFamily="34" charset="-120"/>
              </a:rPr>
              <a:t>new_map</a:t>
            </a:r>
            <a:endParaRPr lang="en-US" sz="1050" dirty="0"/>
          </a:p>
        </p:txBody>
      </p:sp>
      <p:sp>
        <p:nvSpPr>
          <p:cNvPr id="19" name="Text 17"/>
          <p:cNvSpPr/>
          <p:nvPr/>
        </p:nvSpPr>
        <p:spPr>
          <a:xfrm>
            <a:off x="822960" y="3977640"/>
            <a:ext cx="3017520" cy="274320"/>
          </a:xfrm>
          <a:prstGeom prst="rect">
            <a:avLst/>
          </a:prstGeom>
          <a:noFill/>
          <a:ln/>
        </p:spPr>
        <p:txBody>
          <a:bodyPr wrap="square" lIns="0" tIns="0" rIns="0" bIns="0" rtlCol="0" anchor="ctr"/>
          <a:lstStyle/>
          <a:p>
            <a:pPr indent="0" marL="0">
              <a:buNone/>
            </a:pPr>
            <a:r>
              <a:rPr lang="en-US" sz="1400" b="1" dirty="0">
                <a:solidFill>
                  <a:srgbClr val="EDEBE7"/>
                </a:solidFill>
                <a:latin typeface="Arial" pitchFamily="34" charset="0"/>
                <a:ea typeface="Arial" pitchFamily="34" charset="-122"/>
                <a:cs typeface="Arial" pitchFamily="34" charset="-120"/>
              </a:rPr>
              <a:t>The problem</a:t>
            </a:r>
            <a:endParaRPr lang="en-US" sz="1400" dirty="0"/>
          </a:p>
        </p:txBody>
      </p:sp>
      <p:sp>
        <p:nvSpPr>
          <p:cNvPr id="20" name="Text 18"/>
          <p:cNvSpPr/>
          <p:nvPr/>
        </p:nvSpPr>
        <p:spPr>
          <a:xfrm>
            <a:off x="822960" y="4315968"/>
            <a:ext cx="3017520" cy="1005840"/>
          </a:xfrm>
          <a:prstGeom prst="rect">
            <a:avLst/>
          </a:prstGeom>
          <a:noFill/>
          <a:ln/>
        </p:spPr>
        <p:txBody>
          <a:bodyPr wrap="square" lIns="0" tIns="0" rIns="0" bIns="0" rtlCol="0" anchor="t"/>
          <a:lstStyle/>
          <a:p>
            <a:pPr indent="0" marL="0">
              <a:lnSpc>
                <a:spcPts val="1900"/>
              </a:lnSpc>
              <a:buNone/>
            </a:pPr>
            <a:r>
              <a:rPr lang="en-US" sz="1250" dirty="0">
                <a:solidFill>
                  <a:srgbClr val="9AA1A8"/>
                </a:solidFill>
                <a:latin typeface="Arial" pitchFamily="34" charset="0"/>
                <a:ea typeface="Arial" pitchFamily="34" charset="-122"/>
                <a:cs typeface="Arial" pitchFamily="34" charset="-120"/>
              </a:rPr>
              <a:t>A live dbt snapshot only sees the current state. It can't produce a transition that happened three years before the pipeline existed.</a:t>
            </a:r>
            <a:endParaRPr lang="en-US" sz="1250" dirty="0"/>
          </a:p>
        </p:txBody>
      </p:sp>
      <p:sp>
        <p:nvSpPr>
          <p:cNvPr id="21" name="Text 19"/>
          <p:cNvSpPr/>
          <p:nvPr/>
        </p:nvSpPr>
        <p:spPr>
          <a:xfrm>
            <a:off x="4251960" y="3977640"/>
            <a:ext cx="3017520" cy="274320"/>
          </a:xfrm>
          <a:prstGeom prst="rect">
            <a:avLst/>
          </a:prstGeom>
          <a:noFill/>
          <a:ln/>
        </p:spPr>
        <p:txBody>
          <a:bodyPr wrap="square" lIns="0" tIns="0" rIns="0" bIns="0" rtlCol="0" anchor="ctr"/>
          <a:lstStyle/>
          <a:p>
            <a:pPr indent="0" marL="0">
              <a:buNone/>
            </a:pPr>
            <a:r>
              <a:rPr lang="en-US" sz="1400" b="1" dirty="0">
                <a:solidFill>
                  <a:srgbClr val="E8913A"/>
                </a:solidFill>
                <a:latin typeface="Arial" pitchFamily="34" charset="0"/>
                <a:ea typeface="Arial" pitchFamily="34" charset="-122"/>
                <a:cs typeface="Arial" pitchFamily="34" charset="-120"/>
              </a:rPr>
              <a:t>What I did</a:t>
            </a:r>
            <a:endParaRPr lang="en-US" sz="1400" dirty="0"/>
          </a:p>
        </p:txBody>
      </p:sp>
      <p:sp>
        <p:nvSpPr>
          <p:cNvPr id="22" name="Text 20"/>
          <p:cNvSpPr/>
          <p:nvPr/>
        </p:nvSpPr>
        <p:spPr>
          <a:xfrm>
            <a:off x="4251960" y="4315968"/>
            <a:ext cx="3017520" cy="1005840"/>
          </a:xfrm>
          <a:prstGeom prst="rect">
            <a:avLst/>
          </a:prstGeom>
          <a:noFill/>
          <a:ln/>
        </p:spPr>
        <p:txBody>
          <a:bodyPr wrap="square" lIns="0" tIns="0" rIns="0" bIns="0" rtlCol="0" anchor="t"/>
          <a:lstStyle/>
          <a:p>
            <a:pPr indent="0" marL="0">
              <a:lnSpc>
                <a:spcPts val="1900"/>
              </a:lnSpc>
              <a:buNone/>
            </a:pPr>
            <a:r>
              <a:rPr lang="en-US" sz="1250" dirty="0">
                <a:solidFill>
                  <a:srgbClr val="9AA1A8"/>
                </a:solidFill>
                <a:latin typeface="Arial" pitchFamily="34" charset="0"/>
                <a:ea typeface="Arial" pitchFamily="34" charset="-122"/>
                <a:cs typeface="Arial" pitchFamily="34" charset="-120"/>
              </a:rPr>
              <a:t>A one-time backfill writes the pre-2023 history in dbt's own snapshot schema, so every later run is an ordinary snapshot.</a:t>
            </a:r>
            <a:endParaRPr lang="en-US" sz="1250" dirty="0"/>
          </a:p>
        </p:txBody>
      </p:sp>
      <p:sp>
        <p:nvSpPr>
          <p:cNvPr id="23" name="Text 21"/>
          <p:cNvSpPr/>
          <p:nvPr/>
        </p:nvSpPr>
        <p:spPr>
          <a:xfrm>
            <a:off x="822960" y="5577840"/>
            <a:ext cx="6492240" cy="274320"/>
          </a:xfrm>
          <a:prstGeom prst="rect">
            <a:avLst/>
          </a:prstGeom>
          <a:noFill/>
          <a:ln/>
        </p:spPr>
        <p:txBody>
          <a:bodyPr wrap="square" lIns="0" tIns="0" rIns="0" bIns="0" rtlCol="0" anchor="ctr"/>
          <a:lstStyle/>
          <a:p>
            <a:pPr indent="0" marL="0">
              <a:buNone/>
            </a:pPr>
            <a:r>
              <a:rPr lang="en-US" sz="1200" dirty="0">
                <a:solidFill>
                  <a:srgbClr val="6BB89E"/>
                </a:solidFill>
                <a:latin typeface="Courier New" pitchFamily="34" charset="0"/>
                <a:ea typeface="Courier New" pitchFamily="34" charset="-122"/>
                <a:cs typeface="Courier New" pitchFamily="34" charset="-120"/>
              </a:rPr>
              <a:t>dbt_valid_from ≤ created_date &lt; dbt_valid_to</a:t>
            </a:r>
            <a:endParaRPr lang="en-US" sz="1200" dirty="0"/>
          </a:p>
        </p:txBody>
      </p:sp>
      <p:sp>
        <p:nvSpPr>
          <p:cNvPr id="24" name="Text 22"/>
          <p:cNvSpPr/>
          <p:nvPr/>
        </p:nvSpPr>
        <p:spPr>
          <a:xfrm>
            <a:off x="8046720" y="2560320"/>
            <a:ext cx="3657600" cy="365760"/>
          </a:xfrm>
          <a:prstGeom prst="rect">
            <a:avLst/>
          </a:prstGeom>
          <a:noFill/>
          <a:ln/>
        </p:spPr>
        <p:txBody>
          <a:bodyPr wrap="square" lIns="0" tIns="0" rIns="0" bIns="0" rtlCol="0" anchor="ctr"/>
          <a:lstStyle/>
          <a:p>
            <a:pPr indent="0" marL="0">
              <a:buNone/>
            </a:pPr>
            <a:r>
              <a:rPr lang="en-US" sz="2200" b="1" dirty="0">
                <a:solidFill>
                  <a:srgbClr val="EDEBE7"/>
                </a:solidFill>
                <a:latin typeface="Arial" pitchFamily="34" charset="0"/>
                <a:ea typeface="Arial" pitchFamily="34" charset="-122"/>
                <a:cs typeface="Arial" pitchFamily="34" charset="-120"/>
              </a:rPr>
              <a:t>23 dbt tests</a:t>
            </a:r>
            <a:endParaRPr lang="en-US" sz="2200" dirty="0"/>
          </a:p>
        </p:txBody>
      </p:sp>
      <p:sp>
        <p:nvSpPr>
          <p:cNvPr id="25" name="Text 23"/>
          <p:cNvSpPr/>
          <p:nvPr/>
        </p:nvSpPr>
        <p:spPr>
          <a:xfrm>
            <a:off x="8046720" y="2944368"/>
            <a:ext cx="3657600" cy="256032"/>
          </a:xfrm>
          <a:prstGeom prst="rect">
            <a:avLst/>
          </a:prstGeom>
          <a:noFill/>
          <a:ln/>
        </p:spPr>
        <p:txBody>
          <a:bodyPr wrap="square" lIns="0" tIns="0" rIns="0" bIns="0" rtlCol="0" anchor="ctr"/>
          <a:lstStyle/>
          <a:p>
            <a:pPr indent="0" marL="0">
              <a:buNone/>
            </a:pPr>
            <a:r>
              <a:rPr lang="en-US" sz="1250" dirty="0">
                <a:solidFill>
                  <a:srgbClr val="9AA1A8"/>
                </a:solidFill>
                <a:latin typeface="Arial" pitchFamily="34" charset="0"/>
                <a:ea typeface="Arial" pitchFamily="34" charset="-122"/>
                <a:cs typeface="Arial" pitchFamily="34" charset="-120"/>
              </a:rPr>
              <a:t>across 9 models, 2 of them custom SQL</a:t>
            </a:r>
            <a:endParaRPr lang="en-US" sz="1250" dirty="0"/>
          </a:p>
        </p:txBody>
      </p:sp>
      <p:sp>
        <p:nvSpPr>
          <p:cNvPr id="26" name="Text 24"/>
          <p:cNvSpPr/>
          <p:nvPr/>
        </p:nvSpPr>
        <p:spPr>
          <a:xfrm>
            <a:off x="8046720" y="3520440"/>
            <a:ext cx="3063240" cy="274320"/>
          </a:xfrm>
          <a:prstGeom prst="rect">
            <a:avLst/>
          </a:prstGeom>
          <a:noFill/>
          <a:ln/>
        </p:spPr>
        <p:txBody>
          <a:bodyPr wrap="square" lIns="0" tIns="0" rIns="0" bIns="0" rtlCol="0" anchor="ctr"/>
          <a:lstStyle/>
          <a:p>
            <a:pPr indent="0" marL="0">
              <a:buNone/>
            </a:pPr>
            <a:r>
              <a:rPr lang="en-US" sz="1100" dirty="0">
                <a:solidFill>
                  <a:srgbClr val="EDEBE7"/>
                </a:solidFill>
                <a:latin typeface="Courier New" pitchFamily="34" charset="0"/>
                <a:ea typeface="Courier New" pitchFamily="34" charset="-122"/>
                <a:cs typeface="Courier New" pitchFamily="34" charset="-120"/>
              </a:rPr>
              <a:t>lat/long inside Chicago bbox</a:t>
            </a:r>
            <a:endParaRPr lang="en-US" sz="1100" dirty="0"/>
          </a:p>
        </p:txBody>
      </p:sp>
      <p:sp>
        <p:nvSpPr>
          <p:cNvPr id="27" name="Text 25"/>
          <p:cNvSpPr/>
          <p:nvPr/>
        </p:nvSpPr>
        <p:spPr>
          <a:xfrm>
            <a:off x="11109960" y="3520440"/>
            <a:ext cx="822960" cy="274320"/>
          </a:xfrm>
          <a:prstGeom prst="rect">
            <a:avLst/>
          </a:prstGeom>
          <a:noFill/>
          <a:ln/>
        </p:spPr>
        <p:txBody>
          <a:bodyPr wrap="square" lIns="0" tIns="0" rIns="0" bIns="0" rtlCol="0" anchor="ctr"/>
          <a:lstStyle/>
          <a:p>
            <a:pPr algn="r" indent="0" marL="0">
              <a:buNone/>
            </a:pPr>
            <a:r>
              <a:rPr lang="en-US" sz="1100" dirty="0">
                <a:solidFill>
                  <a:srgbClr val="E8913A"/>
                </a:solidFill>
                <a:latin typeface="Courier New" pitchFamily="34" charset="0"/>
                <a:ea typeface="Courier New" pitchFamily="34" charset="-122"/>
                <a:cs typeface="Courier New" pitchFamily="34" charset="-120"/>
              </a:rPr>
              <a:t>error</a:t>
            </a:r>
            <a:endParaRPr lang="en-US" sz="1100" dirty="0"/>
          </a:p>
        </p:txBody>
      </p:sp>
      <p:sp>
        <p:nvSpPr>
          <p:cNvPr id="28" name="Text 26"/>
          <p:cNvSpPr/>
          <p:nvPr/>
        </p:nvSpPr>
        <p:spPr>
          <a:xfrm>
            <a:off x="8046720" y="4069080"/>
            <a:ext cx="3063240" cy="274320"/>
          </a:xfrm>
          <a:prstGeom prst="rect">
            <a:avLst/>
          </a:prstGeom>
          <a:noFill/>
          <a:ln/>
        </p:spPr>
        <p:txBody>
          <a:bodyPr wrap="square" lIns="0" tIns="0" rIns="0" bIns="0" rtlCol="0" anchor="ctr"/>
          <a:lstStyle/>
          <a:p>
            <a:pPr indent="0" marL="0">
              <a:buNone/>
            </a:pPr>
            <a:r>
              <a:rPr lang="en-US" sz="1100" dirty="0">
                <a:solidFill>
                  <a:srgbClr val="EDEBE7"/>
                </a:solidFill>
                <a:latin typeface="Courier New" pitchFamily="34" charset="0"/>
                <a:ea typeface="Courier New" pitchFamily="34" charset="-122"/>
                <a:cs typeface="Courier New" pitchFamily="34" charset="-120"/>
              </a:rPr>
              <a:t>closed_date &gt;= created_date</a:t>
            </a:r>
            <a:endParaRPr lang="en-US" sz="1100" dirty="0"/>
          </a:p>
        </p:txBody>
      </p:sp>
      <p:sp>
        <p:nvSpPr>
          <p:cNvPr id="29" name="Text 27"/>
          <p:cNvSpPr/>
          <p:nvPr/>
        </p:nvSpPr>
        <p:spPr>
          <a:xfrm>
            <a:off x="11109960" y="4069080"/>
            <a:ext cx="822960" cy="274320"/>
          </a:xfrm>
          <a:prstGeom prst="rect">
            <a:avLst/>
          </a:prstGeom>
          <a:noFill/>
          <a:ln/>
        </p:spPr>
        <p:txBody>
          <a:bodyPr wrap="square" lIns="0" tIns="0" rIns="0" bIns="0" rtlCol="0" anchor="ctr"/>
          <a:lstStyle/>
          <a:p>
            <a:pPr algn="r" indent="0" marL="0">
              <a:buNone/>
            </a:pPr>
            <a:r>
              <a:rPr lang="en-US" sz="1100" dirty="0">
                <a:solidFill>
                  <a:srgbClr val="676F77"/>
                </a:solidFill>
                <a:latin typeface="Courier New" pitchFamily="34" charset="0"/>
                <a:ea typeface="Courier New" pitchFamily="34" charset="-122"/>
                <a:cs typeface="Courier New" pitchFamily="34" charset="-120"/>
              </a:rPr>
              <a:t>warn</a:t>
            </a:r>
            <a:endParaRPr lang="en-US" sz="1100" dirty="0"/>
          </a:p>
        </p:txBody>
      </p:sp>
      <p:sp>
        <p:nvSpPr>
          <p:cNvPr id="30" name="Text 28"/>
          <p:cNvSpPr/>
          <p:nvPr/>
        </p:nvSpPr>
        <p:spPr>
          <a:xfrm>
            <a:off x="8046720" y="4617720"/>
            <a:ext cx="3063240" cy="274320"/>
          </a:xfrm>
          <a:prstGeom prst="rect">
            <a:avLst/>
          </a:prstGeom>
          <a:noFill/>
          <a:ln/>
        </p:spPr>
        <p:txBody>
          <a:bodyPr wrap="square" lIns="0" tIns="0" rIns="0" bIns="0" rtlCol="0" anchor="ctr"/>
          <a:lstStyle/>
          <a:p>
            <a:pPr indent="0" marL="0">
              <a:buNone/>
            </a:pPr>
            <a:r>
              <a:rPr lang="en-US" sz="1100" dirty="0">
                <a:solidFill>
                  <a:srgbClr val="EDEBE7"/>
                </a:solidFill>
                <a:latin typeface="Courier New" pitchFamily="34" charset="0"/>
                <a:ea typeface="Courier New" pitchFamily="34" charset="-122"/>
                <a:cs typeface="Courier New" pitchFamily="34" charset="-120"/>
              </a:rPr>
              <a:t>not_null community_area</a:t>
            </a:r>
            <a:endParaRPr lang="en-US" sz="1100" dirty="0"/>
          </a:p>
        </p:txBody>
      </p:sp>
      <p:sp>
        <p:nvSpPr>
          <p:cNvPr id="31" name="Text 29"/>
          <p:cNvSpPr/>
          <p:nvPr/>
        </p:nvSpPr>
        <p:spPr>
          <a:xfrm>
            <a:off x="11109960" y="4617720"/>
            <a:ext cx="822960" cy="274320"/>
          </a:xfrm>
          <a:prstGeom prst="rect">
            <a:avLst/>
          </a:prstGeom>
          <a:noFill/>
          <a:ln/>
        </p:spPr>
        <p:txBody>
          <a:bodyPr wrap="square" lIns="0" tIns="0" rIns="0" bIns="0" rtlCol="0" anchor="ctr"/>
          <a:lstStyle/>
          <a:p>
            <a:pPr algn="r" indent="0" marL="0">
              <a:buNone/>
            </a:pPr>
            <a:r>
              <a:rPr lang="en-US" sz="1100" dirty="0">
                <a:solidFill>
                  <a:srgbClr val="676F77"/>
                </a:solidFill>
                <a:latin typeface="Courier New" pitchFamily="34" charset="0"/>
                <a:ea typeface="Courier New" pitchFamily="34" charset="-122"/>
                <a:cs typeface="Courier New" pitchFamily="34" charset="-120"/>
              </a:rPr>
              <a:t>warn</a:t>
            </a:r>
            <a:endParaRPr lang="en-US" sz="1100" dirty="0"/>
          </a:p>
        </p:txBody>
      </p:sp>
      <p:sp>
        <p:nvSpPr>
          <p:cNvPr id="32" name="Text 30"/>
          <p:cNvSpPr/>
          <p:nvPr/>
        </p:nvSpPr>
        <p:spPr>
          <a:xfrm>
            <a:off x="8046720" y="5349240"/>
            <a:ext cx="3886200" cy="731520"/>
          </a:xfrm>
          <a:prstGeom prst="rect">
            <a:avLst/>
          </a:prstGeom>
          <a:noFill/>
          <a:ln/>
        </p:spPr>
        <p:txBody>
          <a:bodyPr wrap="square" lIns="0" tIns="0" rIns="0" bIns="0" rtlCol="0" anchor="ctr"/>
          <a:lstStyle/>
          <a:p>
            <a:pPr indent="0" marL="0">
              <a:lnSpc>
                <a:spcPts val="1800"/>
              </a:lnSpc>
              <a:buNone/>
            </a:pPr>
            <a:r>
              <a:rPr lang="en-US" sz="1200" i="1" dirty="0">
                <a:solidFill>
                  <a:srgbClr val="676F77"/>
                </a:solidFill>
                <a:latin typeface="Arial" pitchFamily="34" charset="0"/>
                <a:ea typeface="Arial" pitchFamily="34" charset="-122"/>
                <a:cs typeface="Arial" pitchFamily="34" charset="-120"/>
              </a:rPr>
              <a:t>Severity is a decision, not a default: dirty data I've verified warns, anything that would mean a bug fails the run.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822960" y="566928"/>
            <a:ext cx="10515600" cy="237744"/>
          </a:xfrm>
          <a:prstGeom prst="rect">
            <a:avLst/>
          </a:prstGeom>
          <a:noFill/>
          <a:ln/>
        </p:spPr>
        <p:txBody>
          <a:bodyPr wrap="square" lIns="0" tIns="0" rIns="0" bIns="0" rtlCol="0" anchor="ctr"/>
          <a:lstStyle/>
          <a:p>
            <a:pPr indent="0" marL="0">
              <a:buNone/>
            </a:pPr>
            <a:r>
              <a:rPr lang="en-US" sz="1050" spc="140" kern="0" dirty="0">
                <a:solidFill>
                  <a:srgbClr val="E8913A"/>
                </a:solidFill>
                <a:latin typeface="Courier New" pitchFamily="34" charset="0"/>
                <a:ea typeface="Courier New" pitchFamily="34" charset="-122"/>
                <a:cs typeface="Courier New" pitchFamily="34" charset="-120"/>
              </a:rPr>
              <a:t>06 — THE THREE QUESTIONS</a:t>
            </a:r>
            <a:endParaRPr lang="en-US" sz="1050" dirty="0"/>
          </a:p>
        </p:txBody>
      </p:sp>
      <p:sp>
        <p:nvSpPr>
          <p:cNvPr id="3" name="Text 1"/>
          <p:cNvSpPr/>
          <p:nvPr/>
        </p:nvSpPr>
        <p:spPr>
          <a:xfrm>
            <a:off x="822960" y="868680"/>
            <a:ext cx="10515600" cy="603504"/>
          </a:xfrm>
          <a:prstGeom prst="rect">
            <a:avLst/>
          </a:prstGeom>
          <a:noFill/>
          <a:ln/>
        </p:spPr>
        <p:txBody>
          <a:bodyPr wrap="square" lIns="0" tIns="0" rIns="0" bIns="0" rtlCol="0" anchor="ctr"/>
          <a:lstStyle/>
          <a:p>
            <a:pPr indent="0" marL="0">
              <a:buNone/>
            </a:pPr>
            <a:r>
              <a:rPr lang="en-US" sz="3200" b="1" dirty="0">
                <a:solidFill>
                  <a:srgbClr val="EDEBE7"/>
                </a:solidFill>
                <a:latin typeface="Arial" pitchFamily="34" charset="0"/>
                <a:ea typeface="Arial" pitchFamily="34" charset="-122"/>
                <a:cs typeface="Arial" pitchFamily="34" charset="-120"/>
              </a:rPr>
              <a:t>What the data actually said</a:t>
            </a:r>
            <a:endParaRPr lang="en-US" sz="3200" dirty="0"/>
          </a:p>
        </p:txBody>
      </p:sp>
      <p:sp>
        <p:nvSpPr>
          <p:cNvPr id="4" name="Text 2"/>
          <p:cNvSpPr/>
          <p:nvPr/>
        </p:nvSpPr>
        <p:spPr>
          <a:xfrm>
            <a:off x="8595360" y="6327648"/>
            <a:ext cx="2743200" cy="237744"/>
          </a:xfrm>
          <a:prstGeom prst="rect">
            <a:avLst/>
          </a:prstGeom>
          <a:noFill/>
          <a:ln/>
        </p:spPr>
        <p:txBody>
          <a:bodyPr wrap="square" lIns="0" tIns="0" rIns="0" bIns="0" rtlCol="0" anchor="ctr"/>
          <a:lstStyle/>
          <a:p>
            <a:pPr algn="r" indent="0" marL="0">
              <a:buNone/>
            </a:pPr>
            <a:r>
              <a:rPr lang="en-US" sz="950" dirty="0">
                <a:solidFill>
                  <a:srgbClr val="676F77"/>
                </a:solidFill>
                <a:latin typeface="Courier New" pitchFamily="34" charset="0"/>
                <a:ea typeface="Courier New" pitchFamily="34" charset="-122"/>
                <a:cs typeface="Courier New" pitchFamily="34" charset="-120"/>
              </a:rPr>
              <a:t>07 / 08</a:t>
            </a:r>
            <a:endParaRPr lang="en-US" sz="950" dirty="0"/>
          </a:p>
        </p:txBody>
      </p:sp>
      <p:sp>
        <p:nvSpPr>
          <p:cNvPr id="5" name="Text 3"/>
          <p:cNvSpPr/>
          <p:nvPr/>
        </p:nvSpPr>
        <p:spPr>
          <a:xfrm>
            <a:off x="822960" y="1874520"/>
            <a:ext cx="914400" cy="256032"/>
          </a:xfrm>
          <a:prstGeom prst="rect">
            <a:avLst/>
          </a:prstGeom>
          <a:noFill/>
          <a:ln/>
        </p:spPr>
        <p:txBody>
          <a:bodyPr wrap="square" lIns="0" tIns="0" rIns="0" bIns="0" rtlCol="0" anchor="ctr"/>
          <a:lstStyle/>
          <a:p>
            <a:pPr indent="0" marL="0">
              <a:buNone/>
            </a:pPr>
            <a:r>
              <a:rPr lang="en-US" sz="1100" dirty="0">
                <a:solidFill>
                  <a:srgbClr val="E8913A"/>
                </a:solidFill>
                <a:latin typeface="Courier New" pitchFamily="34" charset="0"/>
                <a:ea typeface="Courier New" pitchFamily="34" charset="-122"/>
                <a:cs typeface="Courier New" pitchFamily="34" charset="-120"/>
              </a:rPr>
              <a:t>Q1</a:t>
            </a:r>
            <a:endParaRPr lang="en-US" sz="1100" dirty="0"/>
          </a:p>
        </p:txBody>
      </p:sp>
      <p:sp>
        <p:nvSpPr>
          <p:cNvPr id="6" name="Text 4"/>
          <p:cNvSpPr/>
          <p:nvPr/>
        </p:nvSpPr>
        <p:spPr>
          <a:xfrm>
            <a:off x="822960" y="2167128"/>
            <a:ext cx="2956560" cy="713232"/>
          </a:xfrm>
          <a:prstGeom prst="rect">
            <a:avLst/>
          </a:prstGeom>
          <a:noFill/>
          <a:ln/>
        </p:spPr>
        <p:txBody>
          <a:bodyPr wrap="square" lIns="0" tIns="0" rIns="0" bIns="0" rtlCol="0" anchor="t"/>
          <a:lstStyle/>
          <a:p>
            <a:pPr indent="0" marL="0">
              <a:lnSpc>
                <a:spcPts val="2100"/>
              </a:lnSpc>
              <a:buNone/>
            </a:pPr>
            <a:r>
              <a:rPr lang="en-US" sz="1600" b="1" dirty="0">
                <a:solidFill>
                  <a:srgbClr val="EDEBE7"/>
                </a:solidFill>
                <a:latin typeface="Arial" pitchFamily="34" charset="0"/>
                <a:ea typeface="Arial" pitchFamily="34" charset="-122"/>
                <a:cs typeface="Arial" pitchFamily="34" charset="-120"/>
              </a:rPr>
              <a:t>Pothole &amp; graffiti resolution time</a:t>
            </a:r>
            <a:endParaRPr lang="en-US" sz="1600" dirty="0"/>
          </a:p>
        </p:txBody>
      </p:sp>
      <p:sp>
        <p:nvSpPr>
          <p:cNvPr id="7" name="Text 5"/>
          <p:cNvSpPr/>
          <p:nvPr/>
        </p:nvSpPr>
        <p:spPr>
          <a:xfrm>
            <a:off x="822960" y="2926080"/>
            <a:ext cx="2956560" cy="274320"/>
          </a:xfrm>
          <a:prstGeom prst="rect">
            <a:avLst/>
          </a:prstGeom>
          <a:noFill/>
          <a:ln/>
        </p:spPr>
        <p:txBody>
          <a:bodyPr wrap="square" lIns="0" tIns="0" rIns="0" bIns="0" rtlCol="0" anchor="ctr"/>
          <a:lstStyle/>
          <a:p>
            <a:pPr indent="0" marL="0">
              <a:buNone/>
            </a:pPr>
            <a:r>
              <a:rPr lang="en-US" sz="1250" dirty="0">
                <a:solidFill>
                  <a:srgbClr val="9AA1A8"/>
                </a:solidFill>
                <a:latin typeface="Arial" pitchFamily="34" charset="0"/>
                <a:ea typeface="Arial" pitchFamily="34" charset="-122"/>
                <a:cs typeface="Arial" pitchFamily="34" charset="-120"/>
              </a:rPr>
              <a:t>Median days to close, by area.</a:t>
            </a:r>
            <a:endParaRPr lang="en-US" sz="1250" dirty="0"/>
          </a:p>
        </p:txBody>
      </p:sp>
      <p:sp>
        <p:nvSpPr>
          <p:cNvPr id="8" name="Text 6"/>
          <p:cNvSpPr/>
          <p:nvPr/>
        </p:nvSpPr>
        <p:spPr>
          <a:xfrm>
            <a:off x="2514600" y="3337560"/>
            <a:ext cx="640080" cy="219456"/>
          </a:xfrm>
          <a:prstGeom prst="rect">
            <a:avLst/>
          </a:prstGeom>
          <a:noFill/>
          <a:ln/>
        </p:spPr>
        <p:txBody>
          <a:bodyPr wrap="square" lIns="0" tIns="0" rIns="0" bIns="0" rtlCol="0" anchor="ctr"/>
          <a:lstStyle/>
          <a:p>
            <a:pPr algn="r" indent="0" marL="0">
              <a:buNone/>
            </a:pPr>
            <a:r>
              <a:rPr lang="en-US" sz="1000" dirty="0">
                <a:solidFill>
                  <a:srgbClr val="676F77"/>
                </a:solidFill>
                <a:latin typeface="Courier New" pitchFamily="34" charset="0"/>
                <a:ea typeface="Courier New" pitchFamily="34" charset="-122"/>
                <a:cs typeface="Courier New" pitchFamily="34" charset="-120"/>
              </a:rPr>
              <a:t>2025</a:t>
            </a:r>
            <a:endParaRPr lang="en-US" sz="1000" dirty="0"/>
          </a:p>
        </p:txBody>
      </p:sp>
      <p:sp>
        <p:nvSpPr>
          <p:cNvPr id="9" name="Text 7"/>
          <p:cNvSpPr/>
          <p:nvPr/>
        </p:nvSpPr>
        <p:spPr>
          <a:xfrm>
            <a:off x="3200400" y="3337560"/>
            <a:ext cx="640080" cy="219456"/>
          </a:xfrm>
          <a:prstGeom prst="rect">
            <a:avLst/>
          </a:prstGeom>
          <a:noFill/>
          <a:ln/>
        </p:spPr>
        <p:txBody>
          <a:bodyPr wrap="square" lIns="0" tIns="0" rIns="0" bIns="0" rtlCol="0" anchor="ctr"/>
          <a:lstStyle/>
          <a:p>
            <a:pPr algn="r" indent="0" marL="0">
              <a:buNone/>
            </a:pPr>
            <a:r>
              <a:rPr lang="en-US" sz="1000" dirty="0">
                <a:solidFill>
                  <a:srgbClr val="676F77"/>
                </a:solidFill>
                <a:latin typeface="Courier New" pitchFamily="34" charset="0"/>
                <a:ea typeface="Courier New" pitchFamily="34" charset="-122"/>
                <a:cs typeface="Courier New" pitchFamily="34" charset="-120"/>
              </a:rPr>
              <a:t>2026</a:t>
            </a:r>
            <a:endParaRPr lang="en-US" sz="1000" dirty="0"/>
          </a:p>
        </p:txBody>
      </p:sp>
      <p:sp>
        <p:nvSpPr>
          <p:cNvPr id="10" name="Text 8"/>
          <p:cNvSpPr/>
          <p:nvPr/>
        </p:nvSpPr>
        <p:spPr>
          <a:xfrm>
            <a:off x="822960" y="3630168"/>
            <a:ext cx="1645920" cy="274320"/>
          </a:xfrm>
          <a:prstGeom prst="rect">
            <a:avLst/>
          </a:prstGeom>
          <a:noFill/>
          <a:ln/>
        </p:spPr>
        <p:txBody>
          <a:bodyPr wrap="square" lIns="0" tIns="0" rIns="0" bIns="0" rtlCol="0" anchor="ctr"/>
          <a:lstStyle/>
          <a:p>
            <a:pPr indent="0" marL="0">
              <a:buNone/>
            </a:pPr>
            <a:r>
              <a:rPr lang="en-US" sz="1250" dirty="0">
                <a:solidFill>
                  <a:srgbClr val="EDEBE7"/>
                </a:solidFill>
                <a:latin typeface="Arial" pitchFamily="34" charset="0"/>
                <a:ea typeface="Arial" pitchFamily="34" charset="-122"/>
                <a:cs typeface="Arial" pitchFamily="34" charset="-120"/>
              </a:rPr>
              <a:t>Lower West Side</a:t>
            </a:r>
            <a:endParaRPr lang="en-US" sz="1250" dirty="0"/>
          </a:p>
        </p:txBody>
      </p:sp>
      <p:sp>
        <p:nvSpPr>
          <p:cNvPr id="11" name="Text 9"/>
          <p:cNvSpPr/>
          <p:nvPr/>
        </p:nvSpPr>
        <p:spPr>
          <a:xfrm>
            <a:off x="2514600" y="3630168"/>
            <a:ext cx="640080" cy="274320"/>
          </a:xfrm>
          <a:prstGeom prst="rect">
            <a:avLst/>
          </a:prstGeom>
          <a:noFill/>
          <a:ln/>
        </p:spPr>
        <p:txBody>
          <a:bodyPr wrap="square" lIns="0" tIns="0" rIns="0" bIns="0" rtlCol="0" anchor="ctr"/>
          <a:lstStyle/>
          <a:p>
            <a:pPr algn="r" indent="0" marL="0">
              <a:buNone/>
            </a:pPr>
            <a:r>
              <a:rPr lang="en-US" sz="1200" dirty="0">
                <a:solidFill>
                  <a:srgbClr val="9AA1A8"/>
                </a:solidFill>
                <a:latin typeface="Courier New" pitchFamily="34" charset="0"/>
                <a:ea typeface="Courier New" pitchFamily="34" charset="-122"/>
                <a:cs typeface="Courier New" pitchFamily="34" charset="-120"/>
              </a:rPr>
              <a:t>0.8</a:t>
            </a:r>
            <a:endParaRPr lang="en-US" sz="1200" dirty="0"/>
          </a:p>
        </p:txBody>
      </p:sp>
      <p:sp>
        <p:nvSpPr>
          <p:cNvPr id="12" name="Text 10"/>
          <p:cNvSpPr/>
          <p:nvPr/>
        </p:nvSpPr>
        <p:spPr>
          <a:xfrm>
            <a:off x="3200400" y="3630168"/>
            <a:ext cx="640080" cy="274320"/>
          </a:xfrm>
          <a:prstGeom prst="rect">
            <a:avLst/>
          </a:prstGeom>
          <a:noFill/>
          <a:ln/>
        </p:spPr>
        <p:txBody>
          <a:bodyPr wrap="square" lIns="0" tIns="0" rIns="0" bIns="0" rtlCol="0" anchor="ctr"/>
          <a:lstStyle/>
          <a:p>
            <a:pPr algn="r" indent="0" marL="0">
              <a:buNone/>
            </a:pPr>
            <a:r>
              <a:rPr lang="en-US" sz="1200" dirty="0">
                <a:solidFill>
                  <a:srgbClr val="6BB89E"/>
                </a:solidFill>
                <a:latin typeface="Courier New" pitchFamily="34" charset="0"/>
                <a:ea typeface="Courier New" pitchFamily="34" charset="-122"/>
                <a:cs typeface="Courier New" pitchFamily="34" charset="-120"/>
              </a:rPr>
              <a:t>0.7</a:t>
            </a:r>
            <a:endParaRPr lang="en-US" sz="1200" dirty="0"/>
          </a:p>
        </p:txBody>
      </p:sp>
      <p:sp>
        <p:nvSpPr>
          <p:cNvPr id="13" name="Text 11"/>
          <p:cNvSpPr/>
          <p:nvPr/>
        </p:nvSpPr>
        <p:spPr>
          <a:xfrm>
            <a:off x="822960" y="4032504"/>
            <a:ext cx="1645920" cy="274320"/>
          </a:xfrm>
          <a:prstGeom prst="rect">
            <a:avLst/>
          </a:prstGeom>
          <a:noFill/>
          <a:ln/>
        </p:spPr>
        <p:txBody>
          <a:bodyPr wrap="square" lIns="0" tIns="0" rIns="0" bIns="0" rtlCol="0" anchor="ctr"/>
          <a:lstStyle/>
          <a:p>
            <a:pPr indent="0" marL="0">
              <a:buNone/>
            </a:pPr>
            <a:r>
              <a:rPr lang="en-US" sz="1250" dirty="0">
                <a:solidFill>
                  <a:srgbClr val="EDEBE7"/>
                </a:solidFill>
                <a:latin typeface="Arial" pitchFamily="34" charset="0"/>
                <a:ea typeface="Arial" pitchFamily="34" charset="-122"/>
                <a:cs typeface="Arial" pitchFamily="34" charset="-120"/>
              </a:rPr>
              <a:t>Montclare</a:t>
            </a:r>
            <a:endParaRPr lang="en-US" sz="1250" dirty="0"/>
          </a:p>
        </p:txBody>
      </p:sp>
      <p:sp>
        <p:nvSpPr>
          <p:cNvPr id="14" name="Text 12"/>
          <p:cNvSpPr/>
          <p:nvPr/>
        </p:nvSpPr>
        <p:spPr>
          <a:xfrm>
            <a:off x="2514600" y="4032504"/>
            <a:ext cx="640080" cy="274320"/>
          </a:xfrm>
          <a:prstGeom prst="rect">
            <a:avLst/>
          </a:prstGeom>
          <a:noFill/>
          <a:ln/>
        </p:spPr>
        <p:txBody>
          <a:bodyPr wrap="square" lIns="0" tIns="0" rIns="0" bIns="0" rtlCol="0" anchor="ctr"/>
          <a:lstStyle/>
          <a:p>
            <a:pPr algn="r" indent="0" marL="0">
              <a:buNone/>
            </a:pPr>
            <a:r>
              <a:rPr lang="en-US" sz="1200" dirty="0">
                <a:solidFill>
                  <a:srgbClr val="9AA1A8"/>
                </a:solidFill>
                <a:latin typeface="Courier New" pitchFamily="34" charset="0"/>
                <a:ea typeface="Courier New" pitchFamily="34" charset="-122"/>
                <a:cs typeface="Courier New" pitchFamily="34" charset="-120"/>
              </a:rPr>
              <a:t>9.6</a:t>
            </a:r>
            <a:endParaRPr lang="en-US" sz="1200" dirty="0"/>
          </a:p>
        </p:txBody>
      </p:sp>
      <p:sp>
        <p:nvSpPr>
          <p:cNvPr id="15" name="Text 13"/>
          <p:cNvSpPr/>
          <p:nvPr/>
        </p:nvSpPr>
        <p:spPr>
          <a:xfrm>
            <a:off x="3200400" y="4032504"/>
            <a:ext cx="640080" cy="274320"/>
          </a:xfrm>
          <a:prstGeom prst="rect">
            <a:avLst/>
          </a:prstGeom>
          <a:noFill/>
          <a:ln/>
        </p:spPr>
        <p:txBody>
          <a:bodyPr wrap="square" lIns="0" tIns="0" rIns="0" bIns="0" rtlCol="0" anchor="ctr"/>
          <a:lstStyle/>
          <a:p>
            <a:pPr algn="r" indent="0" marL="0">
              <a:buNone/>
            </a:pPr>
            <a:r>
              <a:rPr lang="en-US" sz="1200" dirty="0">
                <a:solidFill>
                  <a:srgbClr val="6BB89E"/>
                </a:solidFill>
                <a:latin typeface="Courier New" pitchFamily="34" charset="0"/>
                <a:ea typeface="Courier New" pitchFamily="34" charset="-122"/>
                <a:cs typeface="Courier New" pitchFamily="34" charset="-120"/>
              </a:rPr>
              <a:t>6.6</a:t>
            </a:r>
            <a:endParaRPr lang="en-US" sz="1200" dirty="0"/>
          </a:p>
        </p:txBody>
      </p:sp>
      <p:sp>
        <p:nvSpPr>
          <p:cNvPr id="16" name="Text 14"/>
          <p:cNvSpPr/>
          <p:nvPr/>
        </p:nvSpPr>
        <p:spPr>
          <a:xfrm>
            <a:off x="822960" y="4434840"/>
            <a:ext cx="1645920" cy="274320"/>
          </a:xfrm>
          <a:prstGeom prst="rect">
            <a:avLst/>
          </a:prstGeom>
          <a:noFill/>
          <a:ln/>
        </p:spPr>
        <p:txBody>
          <a:bodyPr wrap="square" lIns="0" tIns="0" rIns="0" bIns="0" rtlCol="0" anchor="ctr"/>
          <a:lstStyle/>
          <a:p>
            <a:pPr indent="0" marL="0">
              <a:buNone/>
            </a:pPr>
            <a:r>
              <a:rPr lang="en-US" sz="1250" dirty="0">
                <a:solidFill>
                  <a:srgbClr val="EDEBE7"/>
                </a:solidFill>
                <a:latin typeface="Arial" pitchFamily="34" charset="0"/>
                <a:ea typeface="Arial" pitchFamily="34" charset="-122"/>
                <a:cs typeface="Arial" pitchFamily="34" charset="-120"/>
              </a:rPr>
              <a:t>South Shore</a:t>
            </a:r>
            <a:endParaRPr lang="en-US" sz="1250" dirty="0"/>
          </a:p>
        </p:txBody>
      </p:sp>
      <p:sp>
        <p:nvSpPr>
          <p:cNvPr id="17" name="Text 15"/>
          <p:cNvSpPr/>
          <p:nvPr/>
        </p:nvSpPr>
        <p:spPr>
          <a:xfrm>
            <a:off x="2514600" y="4434840"/>
            <a:ext cx="640080" cy="274320"/>
          </a:xfrm>
          <a:prstGeom prst="rect">
            <a:avLst/>
          </a:prstGeom>
          <a:noFill/>
          <a:ln/>
        </p:spPr>
        <p:txBody>
          <a:bodyPr wrap="square" lIns="0" tIns="0" rIns="0" bIns="0" rtlCol="0" anchor="ctr"/>
          <a:lstStyle/>
          <a:p>
            <a:pPr algn="r" indent="0" marL="0">
              <a:buNone/>
            </a:pPr>
            <a:r>
              <a:rPr lang="en-US" sz="1200" dirty="0">
                <a:solidFill>
                  <a:srgbClr val="9AA1A8"/>
                </a:solidFill>
                <a:latin typeface="Courier New" pitchFamily="34" charset="0"/>
                <a:ea typeface="Courier New" pitchFamily="34" charset="-122"/>
                <a:cs typeface="Courier New" pitchFamily="34" charset="-120"/>
              </a:rPr>
              <a:t>7.0</a:t>
            </a:r>
            <a:endParaRPr lang="en-US" sz="1200" dirty="0"/>
          </a:p>
        </p:txBody>
      </p:sp>
      <p:sp>
        <p:nvSpPr>
          <p:cNvPr id="18" name="Text 16"/>
          <p:cNvSpPr/>
          <p:nvPr/>
        </p:nvSpPr>
        <p:spPr>
          <a:xfrm>
            <a:off x="3200400" y="4434840"/>
            <a:ext cx="640080" cy="274320"/>
          </a:xfrm>
          <a:prstGeom prst="rect">
            <a:avLst/>
          </a:prstGeom>
          <a:noFill/>
          <a:ln/>
        </p:spPr>
        <p:txBody>
          <a:bodyPr wrap="square" lIns="0" tIns="0" rIns="0" bIns="0" rtlCol="0" anchor="ctr"/>
          <a:lstStyle/>
          <a:p>
            <a:pPr algn="r" indent="0" marL="0">
              <a:buNone/>
            </a:pPr>
            <a:r>
              <a:rPr lang="en-US" sz="1200" dirty="0">
                <a:solidFill>
                  <a:srgbClr val="6BB89E"/>
                </a:solidFill>
                <a:latin typeface="Courier New" pitchFamily="34" charset="0"/>
                <a:ea typeface="Courier New" pitchFamily="34" charset="-122"/>
                <a:cs typeface="Courier New" pitchFamily="34" charset="-120"/>
              </a:rPr>
              <a:t>2.0</a:t>
            </a:r>
            <a:endParaRPr lang="en-US" sz="1200" dirty="0"/>
          </a:p>
        </p:txBody>
      </p:sp>
      <p:sp>
        <p:nvSpPr>
          <p:cNvPr id="19" name="Text 17"/>
          <p:cNvSpPr/>
          <p:nvPr/>
        </p:nvSpPr>
        <p:spPr>
          <a:xfrm>
            <a:off x="822960" y="5074920"/>
            <a:ext cx="2956560" cy="594360"/>
          </a:xfrm>
          <a:prstGeom prst="rect">
            <a:avLst/>
          </a:prstGeom>
          <a:noFill/>
          <a:ln/>
        </p:spPr>
        <p:txBody>
          <a:bodyPr wrap="square" lIns="0" tIns="0" rIns="0" bIns="0" rtlCol="0" anchor="ctr"/>
          <a:lstStyle/>
          <a:p>
            <a:pPr indent="0" marL="0">
              <a:lnSpc>
                <a:spcPts val="1800"/>
              </a:lnSpc>
              <a:buNone/>
            </a:pPr>
            <a:r>
              <a:rPr lang="en-US" sz="1200" dirty="0">
                <a:solidFill>
                  <a:srgbClr val="9AA1A8"/>
                </a:solidFill>
                <a:latin typeface="Arial" pitchFamily="34" charset="0"/>
                <a:ea typeface="Arial" pitchFamily="34" charset="-122"/>
                <a:cs typeface="Arial" pitchFamily="34" charset="-120"/>
              </a:rPr>
              <a:t>All three improved. Direction computed with LAG() per area.</a:t>
            </a:r>
            <a:endParaRPr lang="en-US" sz="1200" dirty="0"/>
          </a:p>
        </p:txBody>
      </p:sp>
      <p:sp>
        <p:nvSpPr>
          <p:cNvPr id="20" name="Text 18"/>
          <p:cNvSpPr/>
          <p:nvPr/>
        </p:nvSpPr>
        <p:spPr>
          <a:xfrm>
            <a:off x="4328160" y="1874520"/>
            <a:ext cx="914400" cy="256032"/>
          </a:xfrm>
          <a:prstGeom prst="rect">
            <a:avLst/>
          </a:prstGeom>
          <a:noFill/>
          <a:ln/>
        </p:spPr>
        <p:txBody>
          <a:bodyPr wrap="square" lIns="0" tIns="0" rIns="0" bIns="0" rtlCol="0" anchor="ctr"/>
          <a:lstStyle/>
          <a:p>
            <a:pPr indent="0" marL="0">
              <a:buNone/>
            </a:pPr>
            <a:r>
              <a:rPr lang="en-US" sz="1100" dirty="0">
                <a:solidFill>
                  <a:srgbClr val="E8913A"/>
                </a:solidFill>
                <a:latin typeface="Courier New" pitchFamily="34" charset="0"/>
                <a:ea typeface="Courier New" pitchFamily="34" charset="-122"/>
                <a:cs typeface="Courier New" pitchFamily="34" charset="-120"/>
              </a:rPr>
              <a:t>Q2</a:t>
            </a:r>
            <a:endParaRPr lang="en-US" sz="1100" dirty="0"/>
          </a:p>
        </p:txBody>
      </p:sp>
      <p:sp>
        <p:nvSpPr>
          <p:cNvPr id="21" name="Text 19"/>
          <p:cNvSpPr/>
          <p:nvPr/>
        </p:nvSpPr>
        <p:spPr>
          <a:xfrm>
            <a:off x="4328160" y="2167128"/>
            <a:ext cx="2956560" cy="713232"/>
          </a:xfrm>
          <a:prstGeom prst="rect">
            <a:avLst/>
          </a:prstGeom>
          <a:noFill/>
          <a:ln/>
        </p:spPr>
        <p:txBody>
          <a:bodyPr wrap="square" lIns="0" tIns="0" rIns="0" bIns="0" rtlCol="0" anchor="t"/>
          <a:lstStyle/>
          <a:p>
            <a:pPr indent="0" marL="0">
              <a:lnSpc>
                <a:spcPts val="2100"/>
              </a:lnSpc>
              <a:buNone/>
            </a:pPr>
            <a:r>
              <a:rPr lang="en-US" sz="1600" b="1" dirty="0">
                <a:solidFill>
                  <a:srgbClr val="EDEBE7"/>
                </a:solidFill>
                <a:latin typeface="Arial" pitchFamily="34" charset="0"/>
                <a:ea typeface="Arial" pitchFamily="34" charset="-122"/>
                <a:cs typeface="Arial" pitchFamily="34" charset="-120"/>
              </a:rPr>
              <a:t>Duplicate &amp; reopened complaints</a:t>
            </a:r>
            <a:endParaRPr lang="en-US" sz="1600" dirty="0"/>
          </a:p>
        </p:txBody>
      </p:sp>
      <p:sp>
        <p:nvSpPr>
          <p:cNvPr id="22" name="Text 20"/>
          <p:cNvSpPr/>
          <p:nvPr/>
        </p:nvSpPr>
        <p:spPr>
          <a:xfrm>
            <a:off x="4328160" y="2926080"/>
            <a:ext cx="2956560" cy="274320"/>
          </a:xfrm>
          <a:prstGeom prst="rect">
            <a:avLst/>
          </a:prstGeom>
          <a:noFill/>
          <a:ln/>
        </p:spPr>
        <p:txBody>
          <a:bodyPr wrap="square" lIns="0" tIns="0" rIns="0" bIns="0" rtlCol="0" anchor="ctr"/>
          <a:lstStyle/>
          <a:p>
            <a:pPr indent="0" marL="0">
              <a:buNone/>
            </a:pPr>
            <a:r>
              <a:rPr lang="en-US" sz="1250" dirty="0">
                <a:solidFill>
                  <a:srgbClr val="9AA1A8"/>
                </a:solidFill>
                <a:latin typeface="Arial" pitchFamily="34" charset="0"/>
                <a:ea typeface="Arial" pitchFamily="34" charset="-122"/>
                <a:cs typeface="Arial" pitchFamily="34" charset="-120"/>
              </a:rPr>
              <a:t>Same location and type, 14 days.</a:t>
            </a:r>
            <a:endParaRPr lang="en-US" sz="1250" dirty="0"/>
          </a:p>
        </p:txBody>
      </p:sp>
      <p:graphicFrame>
        <p:nvGraphicFramePr>
          <p:cNvPr id="23" name="Chart 0" descr=""/>
          <p:cNvGraphicFramePr/>
          <p:nvPr/>
        </p:nvGraphicFramePr>
        <p:xfrm>
          <a:off x="4218432" y="3291840"/>
          <a:ext cx="3276600" cy="1600200"/>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p:nvPr/>
        </p:nvSpPr>
        <p:spPr>
          <a:xfrm>
            <a:off x="4328160" y="5074920"/>
            <a:ext cx="2956560" cy="594360"/>
          </a:xfrm>
          <a:prstGeom prst="rect">
            <a:avLst/>
          </a:prstGeom>
          <a:noFill/>
          <a:ln/>
        </p:spPr>
        <p:txBody>
          <a:bodyPr wrap="square" lIns="0" tIns="0" rIns="0" bIns="0" rtlCol="0" anchor="ctr"/>
          <a:lstStyle/>
          <a:p>
            <a:pPr indent="0" marL="0">
              <a:lnSpc>
                <a:spcPts val="1800"/>
              </a:lnSpc>
              <a:buNone/>
            </a:pPr>
            <a:r>
              <a:rPr lang="en-US" sz="1200" dirty="0">
                <a:solidFill>
                  <a:srgbClr val="9AA1A8"/>
                </a:solidFill>
                <a:latin typeface="Arial" pitchFamily="34" charset="0"/>
                <a:ea typeface="Arial" pitchFamily="34" charset="-122"/>
                <a:cs typeface="Arial" pitchFamily="34" charset="-120"/>
              </a:rPr>
              <a:t>A self-join took five minutes on 7M rows. One LAG() window did it in two seconds.</a:t>
            </a:r>
            <a:endParaRPr lang="en-US" sz="1200" dirty="0"/>
          </a:p>
        </p:txBody>
      </p:sp>
      <p:sp>
        <p:nvSpPr>
          <p:cNvPr id="25" name="Text 22"/>
          <p:cNvSpPr/>
          <p:nvPr/>
        </p:nvSpPr>
        <p:spPr>
          <a:xfrm>
            <a:off x="7833360" y="1874520"/>
            <a:ext cx="914400" cy="256032"/>
          </a:xfrm>
          <a:prstGeom prst="rect">
            <a:avLst/>
          </a:prstGeom>
          <a:noFill/>
          <a:ln/>
        </p:spPr>
        <p:txBody>
          <a:bodyPr wrap="square" lIns="0" tIns="0" rIns="0" bIns="0" rtlCol="0" anchor="ctr"/>
          <a:lstStyle/>
          <a:p>
            <a:pPr indent="0" marL="0">
              <a:buNone/>
            </a:pPr>
            <a:r>
              <a:rPr lang="en-US" sz="1100" dirty="0">
                <a:solidFill>
                  <a:srgbClr val="E8913A"/>
                </a:solidFill>
                <a:latin typeface="Courier New" pitchFamily="34" charset="0"/>
                <a:ea typeface="Courier New" pitchFamily="34" charset="-122"/>
                <a:cs typeface="Courier New" pitchFamily="34" charset="-120"/>
              </a:rPr>
              <a:t>Q3</a:t>
            </a:r>
            <a:endParaRPr lang="en-US" sz="1100" dirty="0"/>
          </a:p>
        </p:txBody>
      </p:sp>
      <p:sp>
        <p:nvSpPr>
          <p:cNvPr id="26" name="Text 23"/>
          <p:cNvSpPr/>
          <p:nvPr/>
        </p:nvSpPr>
        <p:spPr>
          <a:xfrm>
            <a:off x="7833360" y="2167128"/>
            <a:ext cx="3139440" cy="713232"/>
          </a:xfrm>
          <a:prstGeom prst="rect">
            <a:avLst/>
          </a:prstGeom>
          <a:noFill/>
          <a:ln/>
        </p:spPr>
        <p:txBody>
          <a:bodyPr wrap="square" lIns="0" tIns="0" rIns="0" bIns="0" rtlCol="0" anchor="t"/>
          <a:lstStyle/>
          <a:p>
            <a:pPr indent="0" marL="0">
              <a:lnSpc>
                <a:spcPts val="2100"/>
              </a:lnSpc>
              <a:buNone/>
            </a:pPr>
            <a:r>
              <a:rPr lang="en-US" sz="1600" b="1" dirty="0">
                <a:solidFill>
                  <a:srgbClr val="EDEBE7"/>
                </a:solidFill>
                <a:latin typeface="Arial" pitchFamily="34" charset="0"/>
                <a:ea typeface="Arial" pitchFamily="34" charset="-122"/>
                <a:cs typeface="Arial" pitchFamily="34" charset="-120"/>
              </a:rPr>
              <a:t>Ward volumes across the redistricting</a:t>
            </a:r>
            <a:endParaRPr lang="en-US" sz="1600" dirty="0"/>
          </a:p>
        </p:txBody>
      </p:sp>
      <p:sp>
        <p:nvSpPr>
          <p:cNvPr id="27" name="Text 24"/>
          <p:cNvSpPr/>
          <p:nvPr/>
        </p:nvSpPr>
        <p:spPr>
          <a:xfrm>
            <a:off x="7833360" y="2926080"/>
            <a:ext cx="3139440" cy="274320"/>
          </a:xfrm>
          <a:prstGeom prst="rect">
            <a:avLst/>
          </a:prstGeom>
          <a:noFill/>
          <a:ln/>
        </p:spPr>
        <p:txBody>
          <a:bodyPr wrap="square" lIns="0" tIns="0" rIns="0" bIns="0" rtlCol="0" anchor="ctr"/>
          <a:lstStyle/>
          <a:p>
            <a:pPr indent="0" marL="0">
              <a:buNone/>
            </a:pPr>
            <a:r>
              <a:rPr lang="en-US" sz="1250" dirty="0">
                <a:solidFill>
                  <a:srgbClr val="9AA1A8"/>
                </a:solidFill>
                <a:latin typeface="Arial" pitchFamily="34" charset="0"/>
                <a:ea typeface="Arial" pitchFamily="34" charset="-122"/>
                <a:cs typeface="Arial" pitchFamily="34" charset="-120"/>
              </a:rPr>
              <a:t>Ward at the time vs. the current map.</a:t>
            </a:r>
            <a:endParaRPr lang="en-US" sz="1250" dirty="0"/>
          </a:p>
        </p:txBody>
      </p:sp>
      <p:sp>
        <p:nvSpPr>
          <p:cNvPr id="28" name="Text 25"/>
          <p:cNvSpPr/>
          <p:nvPr/>
        </p:nvSpPr>
        <p:spPr>
          <a:xfrm>
            <a:off x="7833360" y="3355848"/>
            <a:ext cx="1463040" cy="292608"/>
          </a:xfrm>
          <a:prstGeom prst="rect">
            <a:avLst/>
          </a:prstGeom>
          <a:noFill/>
          <a:ln/>
        </p:spPr>
        <p:txBody>
          <a:bodyPr wrap="square" lIns="0" tIns="0" rIns="0" bIns="0" rtlCol="0" anchor="ctr"/>
          <a:lstStyle/>
          <a:p>
            <a:pPr indent="0" marL="0">
              <a:buNone/>
            </a:pPr>
            <a:r>
              <a:rPr lang="en-US" sz="1200" dirty="0">
                <a:solidFill>
                  <a:srgbClr val="EDEBE7"/>
                </a:solidFill>
                <a:latin typeface="Courier New" pitchFamily="34" charset="0"/>
                <a:ea typeface="Courier New" pitchFamily="34" charset="-122"/>
                <a:cs typeface="Courier New" pitchFamily="34" charset="-120"/>
              </a:rPr>
              <a:t>ward 43</a:t>
            </a:r>
            <a:endParaRPr lang="en-US" sz="1200" dirty="0"/>
          </a:p>
        </p:txBody>
      </p:sp>
      <p:sp>
        <p:nvSpPr>
          <p:cNvPr id="29" name="Text 26"/>
          <p:cNvSpPr/>
          <p:nvPr/>
        </p:nvSpPr>
        <p:spPr>
          <a:xfrm>
            <a:off x="9204960" y="3355848"/>
            <a:ext cx="1554480" cy="292608"/>
          </a:xfrm>
          <a:prstGeom prst="rect">
            <a:avLst/>
          </a:prstGeom>
          <a:noFill/>
          <a:ln/>
        </p:spPr>
        <p:txBody>
          <a:bodyPr wrap="square" lIns="0" tIns="0" rIns="0" bIns="0" rtlCol="0" anchor="ctr"/>
          <a:lstStyle/>
          <a:p>
            <a:pPr algn="r" indent="0" marL="0">
              <a:buNone/>
            </a:pPr>
            <a:r>
              <a:rPr lang="en-US" sz="1500" b="1" dirty="0">
                <a:solidFill>
                  <a:srgbClr val="6BB89E"/>
                </a:solidFill>
                <a:latin typeface="Arial" pitchFamily="34" charset="0"/>
                <a:ea typeface="Arial" pitchFamily="34" charset="-122"/>
                <a:cs typeface="Arial" pitchFamily="34" charset="-120"/>
              </a:rPr>
              <a:t>+43.3</a:t>
            </a:r>
            <a:endParaRPr lang="en-US" sz="1500" dirty="0"/>
          </a:p>
        </p:txBody>
      </p:sp>
      <p:sp>
        <p:nvSpPr>
          <p:cNvPr id="30" name="Text 27"/>
          <p:cNvSpPr/>
          <p:nvPr/>
        </p:nvSpPr>
        <p:spPr>
          <a:xfrm>
            <a:off x="7833360" y="3776472"/>
            <a:ext cx="1463040" cy="292608"/>
          </a:xfrm>
          <a:prstGeom prst="rect">
            <a:avLst/>
          </a:prstGeom>
          <a:noFill/>
          <a:ln/>
        </p:spPr>
        <p:txBody>
          <a:bodyPr wrap="square" lIns="0" tIns="0" rIns="0" bIns="0" rtlCol="0" anchor="ctr"/>
          <a:lstStyle/>
          <a:p>
            <a:pPr indent="0" marL="0">
              <a:buNone/>
            </a:pPr>
            <a:r>
              <a:rPr lang="en-US" sz="1200" dirty="0">
                <a:solidFill>
                  <a:srgbClr val="EDEBE7"/>
                </a:solidFill>
                <a:latin typeface="Courier New" pitchFamily="34" charset="0"/>
                <a:ea typeface="Courier New" pitchFamily="34" charset="-122"/>
                <a:cs typeface="Courier New" pitchFamily="34" charset="-120"/>
              </a:rPr>
              <a:t>ward 44</a:t>
            </a:r>
            <a:endParaRPr lang="en-US" sz="1200" dirty="0"/>
          </a:p>
        </p:txBody>
      </p:sp>
      <p:sp>
        <p:nvSpPr>
          <p:cNvPr id="31" name="Text 28"/>
          <p:cNvSpPr/>
          <p:nvPr/>
        </p:nvSpPr>
        <p:spPr>
          <a:xfrm>
            <a:off x="9204960" y="3776472"/>
            <a:ext cx="1554480" cy="292608"/>
          </a:xfrm>
          <a:prstGeom prst="rect">
            <a:avLst/>
          </a:prstGeom>
          <a:noFill/>
          <a:ln/>
        </p:spPr>
        <p:txBody>
          <a:bodyPr wrap="square" lIns="0" tIns="0" rIns="0" bIns="0" rtlCol="0" anchor="ctr"/>
          <a:lstStyle/>
          <a:p>
            <a:pPr algn="r" indent="0" marL="0">
              <a:buNone/>
            </a:pPr>
            <a:r>
              <a:rPr lang="en-US" sz="1500" b="1" dirty="0">
                <a:solidFill>
                  <a:srgbClr val="6BB89E"/>
                </a:solidFill>
                <a:latin typeface="Arial" pitchFamily="34" charset="0"/>
                <a:ea typeface="Arial" pitchFamily="34" charset="-122"/>
                <a:cs typeface="Arial" pitchFamily="34" charset="-120"/>
              </a:rPr>
              <a:t>+34.9</a:t>
            </a:r>
            <a:endParaRPr lang="en-US" sz="1500" dirty="0"/>
          </a:p>
        </p:txBody>
      </p:sp>
      <p:sp>
        <p:nvSpPr>
          <p:cNvPr id="32" name="Text 29"/>
          <p:cNvSpPr/>
          <p:nvPr/>
        </p:nvSpPr>
        <p:spPr>
          <a:xfrm>
            <a:off x="7833360" y="4197096"/>
            <a:ext cx="1463040" cy="292608"/>
          </a:xfrm>
          <a:prstGeom prst="rect">
            <a:avLst/>
          </a:prstGeom>
          <a:noFill/>
          <a:ln/>
        </p:spPr>
        <p:txBody>
          <a:bodyPr wrap="square" lIns="0" tIns="0" rIns="0" bIns="0" rtlCol="0" anchor="ctr"/>
          <a:lstStyle/>
          <a:p>
            <a:pPr indent="0" marL="0">
              <a:buNone/>
            </a:pPr>
            <a:r>
              <a:rPr lang="en-US" sz="1200" dirty="0">
                <a:solidFill>
                  <a:srgbClr val="EDEBE7"/>
                </a:solidFill>
                <a:latin typeface="Courier New" pitchFamily="34" charset="0"/>
                <a:ea typeface="Courier New" pitchFamily="34" charset="-122"/>
                <a:cs typeface="Courier New" pitchFamily="34" charset="-120"/>
              </a:rPr>
              <a:t>ward 14</a:t>
            </a:r>
            <a:endParaRPr lang="en-US" sz="1200" dirty="0"/>
          </a:p>
        </p:txBody>
      </p:sp>
      <p:sp>
        <p:nvSpPr>
          <p:cNvPr id="33" name="Text 30"/>
          <p:cNvSpPr/>
          <p:nvPr/>
        </p:nvSpPr>
        <p:spPr>
          <a:xfrm>
            <a:off x="9204960" y="4197096"/>
            <a:ext cx="1554480" cy="292608"/>
          </a:xfrm>
          <a:prstGeom prst="rect">
            <a:avLst/>
          </a:prstGeom>
          <a:noFill/>
          <a:ln/>
        </p:spPr>
        <p:txBody>
          <a:bodyPr wrap="square" lIns="0" tIns="0" rIns="0" bIns="0" rtlCol="0" anchor="ctr"/>
          <a:lstStyle/>
          <a:p>
            <a:pPr algn="r" indent="0" marL="0">
              <a:buNone/>
            </a:pPr>
            <a:r>
              <a:rPr lang="en-US" sz="1500" b="1" dirty="0">
                <a:solidFill>
                  <a:srgbClr val="E8913A"/>
                </a:solidFill>
                <a:latin typeface="Arial" pitchFamily="34" charset="0"/>
                <a:ea typeface="Arial" pitchFamily="34" charset="-122"/>
                <a:cs typeface="Arial" pitchFamily="34" charset="-120"/>
              </a:rPr>
              <a:t>−17.1</a:t>
            </a:r>
            <a:endParaRPr lang="en-US" sz="1500" dirty="0"/>
          </a:p>
        </p:txBody>
      </p:sp>
      <p:sp>
        <p:nvSpPr>
          <p:cNvPr id="34" name="Text 31"/>
          <p:cNvSpPr/>
          <p:nvPr/>
        </p:nvSpPr>
        <p:spPr>
          <a:xfrm>
            <a:off x="7833360" y="4617720"/>
            <a:ext cx="1463040" cy="292608"/>
          </a:xfrm>
          <a:prstGeom prst="rect">
            <a:avLst/>
          </a:prstGeom>
          <a:noFill/>
          <a:ln/>
        </p:spPr>
        <p:txBody>
          <a:bodyPr wrap="square" lIns="0" tIns="0" rIns="0" bIns="0" rtlCol="0" anchor="ctr"/>
          <a:lstStyle/>
          <a:p>
            <a:pPr indent="0" marL="0">
              <a:buNone/>
            </a:pPr>
            <a:r>
              <a:rPr lang="en-US" sz="1200" dirty="0">
                <a:solidFill>
                  <a:srgbClr val="EDEBE7"/>
                </a:solidFill>
                <a:latin typeface="Courier New" pitchFamily="34" charset="0"/>
                <a:ea typeface="Courier New" pitchFamily="34" charset="-122"/>
                <a:cs typeface="Courier New" pitchFamily="34" charset="-120"/>
              </a:rPr>
              <a:t>ward 12</a:t>
            </a:r>
            <a:endParaRPr lang="en-US" sz="1200" dirty="0"/>
          </a:p>
        </p:txBody>
      </p:sp>
      <p:sp>
        <p:nvSpPr>
          <p:cNvPr id="35" name="Text 32"/>
          <p:cNvSpPr/>
          <p:nvPr/>
        </p:nvSpPr>
        <p:spPr>
          <a:xfrm>
            <a:off x="9204960" y="4617720"/>
            <a:ext cx="1554480" cy="292608"/>
          </a:xfrm>
          <a:prstGeom prst="rect">
            <a:avLst/>
          </a:prstGeom>
          <a:noFill/>
          <a:ln/>
        </p:spPr>
        <p:txBody>
          <a:bodyPr wrap="square" lIns="0" tIns="0" rIns="0" bIns="0" rtlCol="0" anchor="ctr"/>
          <a:lstStyle/>
          <a:p>
            <a:pPr algn="r" indent="0" marL="0">
              <a:buNone/>
            </a:pPr>
            <a:r>
              <a:rPr lang="en-US" sz="1500" b="1" dirty="0">
                <a:solidFill>
                  <a:srgbClr val="E8913A"/>
                </a:solidFill>
                <a:latin typeface="Arial" pitchFamily="34" charset="0"/>
                <a:ea typeface="Arial" pitchFamily="34" charset="-122"/>
                <a:cs typeface="Arial" pitchFamily="34" charset="-120"/>
              </a:rPr>
              <a:t>−16.8</a:t>
            </a:r>
            <a:endParaRPr lang="en-US" sz="1500" dirty="0"/>
          </a:p>
        </p:txBody>
      </p:sp>
      <p:sp>
        <p:nvSpPr>
          <p:cNvPr id="36" name="Text 33"/>
          <p:cNvSpPr/>
          <p:nvPr/>
        </p:nvSpPr>
        <p:spPr>
          <a:xfrm>
            <a:off x="7833360" y="5074920"/>
            <a:ext cx="3139440" cy="640080"/>
          </a:xfrm>
          <a:prstGeom prst="rect">
            <a:avLst/>
          </a:prstGeom>
          <a:noFill/>
          <a:ln/>
        </p:spPr>
        <p:txBody>
          <a:bodyPr wrap="square" lIns="0" tIns="0" rIns="0" bIns="0" rtlCol="0" anchor="ctr"/>
          <a:lstStyle/>
          <a:p>
            <a:pPr indent="0" marL="0">
              <a:lnSpc>
                <a:spcPts val="1800"/>
              </a:lnSpc>
              <a:buNone/>
            </a:pPr>
            <a:r>
              <a:rPr lang="en-US" sz="1200" dirty="0">
                <a:solidFill>
                  <a:srgbClr val="9AA1A8"/>
                </a:solidFill>
                <a:latin typeface="Arial" pitchFamily="34" charset="0"/>
                <a:ea typeface="Arial" pitchFamily="34" charset="-122"/>
                <a:cs typeface="Arial" pitchFamily="34" charset="-120"/>
              </a:rPr>
              <a:t>No boundary geometry, so this measures whether a ward's own rate moved more than the city's.</a:t>
            </a:r>
            <a:endParaRPr lang="en-US" sz="1200" dirty="0"/>
          </a:p>
        </p:txBody>
      </p:sp>
      <p:sp>
        <p:nvSpPr>
          <p:cNvPr id="37" name="Text 34"/>
          <p:cNvSpPr/>
          <p:nvPr/>
        </p:nvSpPr>
        <p:spPr>
          <a:xfrm>
            <a:off x="822960" y="5897880"/>
            <a:ext cx="10515600" cy="320040"/>
          </a:xfrm>
          <a:prstGeom prst="rect">
            <a:avLst/>
          </a:prstGeom>
          <a:noFill/>
          <a:ln/>
        </p:spPr>
        <p:txBody>
          <a:bodyPr wrap="square" lIns="0" tIns="0" rIns="0" bIns="0" rtlCol="0" anchor="ctr"/>
          <a:lstStyle/>
          <a:p>
            <a:pPr indent="0" marL="0">
              <a:buNone/>
            </a:pPr>
            <a:r>
              <a:rPr lang="en-US" sz="1150" i="1" dirty="0">
                <a:solidFill>
                  <a:srgbClr val="676F77"/>
                </a:solidFill>
                <a:latin typeface="Arial" pitchFamily="34" charset="0"/>
                <a:ea typeface="Arial" pitchFamily="34" charset="-122"/>
                <a:cs typeface="Arial" pitchFamily="34" charset="-120"/>
              </a:rPr>
              <a:t>311IOC and AVN are excluded from Q2 and Q3 — both bucket onto a handful of fixed addresses and pushed the duplicate rate to a meaningless 99.9%.</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81C"/>
        </a:solidFill>
      </p:bgPr>
    </p:bg>
    <p:spTree>
      <p:nvGrpSpPr>
        <p:cNvPr id="1" name=""/>
        <p:cNvGrpSpPr/>
        <p:nvPr/>
      </p:nvGrpSpPr>
      <p:grpSpPr>
        <a:xfrm>
          <a:off x="0" y="0"/>
          <a:ext cx="0" cy="0"/>
          <a:chOff x="0" y="0"/>
          <a:chExt cx="0" cy="0"/>
        </a:xfrm>
      </p:grpSpPr>
      <p:sp>
        <p:nvSpPr>
          <p:cNvPr id="2" name="Text 0"/>
          <p:cNvSpPr/>
          <p:nvPr/>
        </p:nvSpPr>
        <p:spPr>
          <a:xfrm>
            <a:off x="822960" y="566928"/>
            <a:ext cx="10515600" cy="237744"/>
          </a:xfrm>
          <a:prstGeom prst="rect">
            <a:avLst/>
          </a:prstGeom>
          <a:noFill/>
          <a:ln/>
        </p:spPr>
        <p:txBody>
          <a:bodyPr wrap="square" lIns="0" tIns="0" rIns="0" bIns="0" rtlCol="0" anchor="ctr"/>
          <a:lstStyle/>
          <a:p>
            <a:pPr indent="0" marL="0">
              <a:buNone/>
            </a:pPr>
            <a:r>
              <a:rPr lang="en-US" sz="1050" spc="140" kern="0" dirty="0">
                <a:solidFill>
                  <a:srgbClr val="E8913A"/>
                </a:solidFill>
                <a:latin typeface="Courier New" pitchFamily="34" charset="0"/>
                <a:ea typeface="Courier New" pitchFamily="34" charset="-122"/>
                <a:cs typeface="Courier New" pitchFamily="34" charset="-120"/>
              </a:rPr>
              <a:t>07 — LESSONS</a:t>
            </a:r>
            <a:endParaRPr lang="en-US" sz="1050" dirty="0"/>
          </a:p>
        </p:txBody>
      </p:sp>
      <p:sp>
        <p:nvSpPr>
          <p:cNvPr id="3" name="Text 1"/>
          <p:cNvSpPr/>
          <p:nvPr/>
        </p:nvSpPr>
        <p:spPr>
          <a:xfrm>
            <a:off x="822960" y="868680"/>
            <a:ext cx="10515600" cy="603504"/>
          </a:xfrm>
          <a:prstGeom prst="rect">
            <a:avLst/>
          </a:prstGeom>
          <a:noFill/>
          <a:ln/>
        </p:spPr>
        <p:txBody>
          <a:bodyPr wrap="square" lIns="0" tIns="0" rIns="0" bIns="0" rtlCol="0" anchor="ctr"/>
          <a:lstStyle/>
          <a:p>
            <a:pPr indent="0" marL="0">
              <a:buNone/>
            </a:pPr>
            <a:r>
              <a:rPr lang="en-US" sz="3200" b="1" dirty="0">
                <a:solidFill>
                  <a:srgbClr val="EDEBE7"/>
                </a:solidFill>
                <a:latin typeface="Arial" pitchFamily="34" charset="0"/>
                <a:ea typeface="Arial" pitchFamily="34" charset="-122"/>
                <a:cs typeface="Arial" pitchFamily="34" charset="-120"/>
              </a:rPr>
              <a:t>Six things that broke</a:t>
            </a:r>
            <a:endParaRPr lang="en-US" sz="3200" dirty="0"/>
          </a:p>
        </p:txBody>
      </p:sp>
      <p:sp>
        <p:nvSpPr>
          <p:cNvPr id="4" name="Text 2"/>
          <p:cNvSpPr/>
          <p:nvPr/>
        </p:nvSpPr>
        <p:spPr>
          <a:xfrm>
            <a:off x="8595360" y="6327648"/>
            <a:ext cx="2743200" cy="237744"/>
          </a:xfrm>
          <a:prstGeom prst="rect">
            <a:avLst/>
          </a:prstGeom>
          <a:noFill/>
          <a:ln/>
        </p:spPr>
        <p:txBody>
          <a:bodyPr wrap="square" lIns="0" tIns="0" rIns="0" bIns="0" rtlCol="0" anchor="ctr"/>
          <a:lstStyle/>
          <a:p>
            <a:pPr algn="r" indent="0" marL="0">
              <a:buNone/>
            </a:pPr>
            <a:r>
              <a:rPr lang="en-US" sz="950" dirty="0">
                <a:solidFill>
                  <a:srgbClr val="676F77"/>
                </a:solidFill>
                <a:latin typeface="Courier New" pitchFamily="34" charset="0"/>
                <a:ea typeface="Courier New" pitchFamily="34" charset="-122"/>
                <a:cs typeface="Courier New" pitchFamily="34" charset="-120"/>
              </a:rPr>
              <a:t>08 / 08</a:t>
            </a:r>
            <a:endParaRPr lang="en-US" sz="950" dirty="0"/>
          </a:p>
        </p:txBody>
      </p:sp>
      <p:sp>
        <p:nvSpPr>
          <p:cNvPr id="5" name="Text 3"/>
          <p:cNvSpPr/>
          <p:nvPr/>
        </p:nvSpPr>
        <p:spPr>
          <a:xfrm>
            <a:off x="822960" y="1874520"/>
            <a:ext cx="10515600" cy="365760"/>
          </a:xfrm>
          <a:prstGeom prst="rect">
            <a:avLst/>
          </a:prstGeom>
          <a:noFill/>
          <a:ln/>
        </p:spPr>
        <p:txBody>
          <a:bodyPr wrap="square" lIns="0" tIns="0" rIns="0" bIns="0" rtlCol="0" anchor="ctr"/>
          <a:lstStyle/>
          <a:p>
            <a:pPr indent="0" marL="0">
              <a:buNone/>
            </a:pPr>
            <a:r>
              <a:rPr lang="en-US" sz="1500" dirty="0">
                <a:solidFill>
                  <a:srgbClr val="9AA1A8"/>
                </a:solidFill>
                <a:latin typeface="Arial" pitchFamily="34" charset="0"/>
                <a:ea typeface="Arial" pitchFamily="34" charset="-122"/>
                <a:cs typeface="Arial" pitchFamily="34" charset="-120"/>
              </a:rPr>
              <a:t>None of these were in the brief. They're the ones that cost me time.</a:t>
            </a:r>
            <a:endParaRPr lang="en-US" sz="1500" dirty="0"/>
          </a:p>
        </p:txBody>
      </p:sp>
      <p:sp>
        <p:nvSpPr>
          <p:cNvPr id="6" name="Text 4"/>
          <p:cNvSpPr/>
          <p:nvPr/>
        </p:nvSpPr>
        <p:spPr>
          <a:xfrm>
            <a:off x="822960" y="2468880"/>
            <a:ext cx="548640" cy="256032"/>
          </a:xfrm>
          <a:prstGeom prst="rect">
            <a:avLst/>
          </a:prstGeom>
          <a:noFill/>
          <a:ln/>
        </p:spPr>
        <p:txBody>
          <a:bodyPr wrap="square" lIns="0" tIns="0" rIns="0" bIns="0" rtlCol="0" anchor="ctr"/>
          <a:lstStyle/>
          <a:p>
            <a:pPr indent="0" marL="0">
              <a:buNone/>
            </a:pPr>
            <a:r>
              <a:rPr lang="en-US" sz="1100" dirty="0">
                <a:solidFill>
                  <a:srgbClr val="E8913A"/>
                </a:solidFill>
                <a:latin typeface="Courier New" pitchFamily="34" charset="0"/>
                <a:ea typeface="Courier New" pitchFamily="34" charset="-122"/>
                <a:cs typeface="Courier New" pitchFamily="34" charset="-120"/>
              </a:rPr>
              <a:t>01</a:t>
            </a:r>
            <a:endParaRPr lang="en-US" sz="1100" dirty="0"/>
          </a:p>
        </p:txBody>
      </p:sp>
      <p:sp>
        <p:nvSpPr>
          <p:cNvPr id="7" name="Text 5"/>
          <p:cNvSpPr/>
          <p:nvPr/>
        </p:nvSpPr>
        <p:spPr>
          <a:xfrm>
            <a:off x="1371600" y="2450592"/>
            <a:ext cx="4434840" cy="292608"/>
          </a:xfrm>
          <a:prstGeom prst="rect">
            <a:avLst/>
          </a:prstGeom>
          <a:noFill/>
          <a:ln/>
        </p:spPr>
        <p:txBody>
          <a:bodyPr wrap="square" lIns="0" tIns="0" rIns="0" bIns="0" rtlCol="0" anchor="ctr"/>
          <a:lstStyle/>
          <a:p>
            <a:pPr indent="0" marL="0">
              <a:buNone/>
            </a:pPr>
            <a:r>
              <a:rPr lang="en-US" sz="1400" b="1" dirty="0">
                <a:solidFill>
                  <a:srgbClr val="EDEBE7"/>
                </a:solidFill>
                <a:latin typeface="Arial" pitchFamily="34" charset="0"/>
                <a:ea typeface="Arial" pitchFamily="34" charset="-122"/>
                <a:cs typeface="Arial" pitchFamily="34" charset="-120"/>
              </a:rPr>
              <a:t>SCD2 with no history of its own</a:t>
            </a:r>
            <a:endParaRPr lang="en-US" sz="1400" dirty="0"/>
          </a:p>
        </p:txBody>
      </p:sp>
      <p:sp>
        <p:nvSpPr>
          <p:cNvPr id="8" name="Text 6"/>
          <p:cNvSpPr/>
          <p:nvPr/>
        </p:nvSpPr>
        <p:spPr>
          <a:xfrm>
            <a:off x="1371600" y="2779776"/>
            <a:ext cx="4434840" cy="640080"/>
          </a:xfrm>
          <a:prstGeom prst="rect">
            <a:avLst/>
          </a:prstGeom>
          <a:noFill/>
          <a:ln/>
        </p:spPr>
        <p:txBody>
          <a:bodyPr wrap="square" lIns="0" tIns="0" rIns="0" bIns="0" rtlCol="0" anchor="ctr"/>
          <a:lstStyle/>
          <a:p>
            <a:pPr indent="0" marL="0">
              <a:lnSpc>
                <a:spcPts val="1800"/>
              </a:lnSpc>
              <a:buNone/>
            </a:pPr>
            <a:r>
              <a:rPr lang="en-US" sz="1200" dirty="0">
                <a:solidFill>
                  <a:srgbClr val="9AA1A8"/>
                </a:solidFill>
                <a:latin typeface="Arial" pitchFamily="34" charset="0"/>
                <a:ea typeface="Arial" pitchFamily="34" charset="-122"/>
                <a:cs typeface="Arial" pitchFamily="34" charset="-120"/>
              </a:rPr>
              <a:t>The redistricting happened years before the pipeline existed. Fixed with a one-time backfill.</a:t>
            </a:r>
            <a:endParaRPr lang="en-US" sz="1200" dirty="0"/>
          </a:p>
        </p:txBody>
      </p:sp>
      <p:sp>
        <p:nvSpPr>
          <p:cNvPr id="9" name="Text 7"/>
          <p:cNvSpPr/>
          <p:nvPr/>
        </p:nvSpPr>
        <p:spPr>
          <a:xfrm>
            <a:off x="6355080" y="2468880"/>
            <a:ext cx="548640" cy="256032"/>
          </a:xfrm>
          <a:prstGeom prst="rect">
            <a:avLst/>
          </a:prstGeom>
          <a:noFill/>
          <a:ln/>
        </p:spPr>
        <p:txBody>
          <a:bodyPr wrap="square" lIns="0" tIns="0" rIns="0" bIns="0" rtlCol="0" anchor="ctr"/>
          <a:lstStyle/>
          <a:p>
            <a:pPr indent="0" marL="0">
              <a:buNone/>
            </a:pPr>
            <a:r>
              <a:rPr lang="en-US" sz="1100" dirty="0">
                <a:solidFill>
                  <a:srgbClr val="E8913A"/>
                </a:solidFill>
                <a:latin typeface="Courier New" pitchFamily="34" charset="0"/>
                <a:ea typeface="Courier New" pitchFamily="34" charset="-122"/>
                <a:cs typeface="Courier New" pitchFamily="34" charset="-120"/>
              </a:rPr>
              <a:t>02</a:t>
            </a:r>
            <a:endParaRPr lang="en-US" sz="1100" dirty="0"/>
          </a:p>
        </p:txBody>
      </p:sp>
      <p:sp>
        <p:nvSpPr>
          <p:cNvPr id="10" name="Text 8"/>
          <p:cNvSpPr/>
          <p:nvPr/>
        </p:nvSpPr>
        <p:spPr>
          <a:xfrm>
            <a:off x="6903720" y="2450592"/>
            <a:ext cx="4434840" cy="292608"/>
          </a:xfrm>
          <a:prstGeom prst="rect">
            <a:avLst/>
          </a:prstGeom>
          <a:noFill/>
          <a:ln/>
        </p:spPr>
        <p:txBody>
          <a:bodyPr wrap="square" lIns="0" tIns="0" rIns="0" bIns="0" rtlCol="0" anchor="ctr"/>
          <a:lstStyle/>
          <a:p>
            <a:pPr indent="0" marL="0">
              <a:buNone/>
            </a:pPr>
            <a:r>
              <a:rPr lang="en-US" sz="1400" b="1" dirty="0">
                <a:solidFill>
                  <a:srgbClr val="EDEBE7"/>
                </a:solidFill>
                <a:latin typeface="Arial" pitchFamily="34" charset="0"/>
                <a:ea typeface="Arial" pitchFamily="34" charset="-122"/>
                <a:cs typeface="Arial" pitchFamily="34" charset="-120"/>
              </a:rPr>
              <a:t>The DAG never ran seed or snapshot</a:t>
            </a:r>
            <a:endParaRPr lang="en-US" sz="1400" dirty="0"/>
          </a:p>
        </p:txBody>
      </p:sp>
      <p:sp>
        <p:nvSpPr>
          <p:cNvPr id="11" name="Text 9"/>
          <p:cNvSpPr/>
          <p:nvPr/>
        </p:nvSpPr>
        <p:spPr>
          <a:xfrm>
            <a:off x="6903720" y="2779776"/>
            <a:ext cx="4434840" cy="640080"/>
          </a:xfrm>
          <a:prstGeom prst="rect">
            <a:avLst/>
          </a:prstGeom>
          <a:noFill/>
          <a:ln/>
        </p:spPr>
        <p:txBody>
          <a:bodyPr wrap="square" lIns="0" tIns="0" rIns="0" bIns="0" rtlCol="0" anchor="ctr"/>
          <a:lstStyle/>
          <a:p>
            <a:pPr indent="0" marL="0">
              <a:lnSpc>
                <a:spcPts val="1800"/>
              </a:lnSpc>
              <a:buNone/>
            </a:pPr>
            <a:r>
              <a:rPr lang="en-US" sz="1200" dirty="0">
                <a:solidFill>
                  <a:srgbClr val="9AA1A8"/>
                </a:solidFill>
                <a:latin typeface="Arial" pitchFamily="34" charset="0"/>
                <a:ea typeface="Arial" pitchFamily="34" charset="-122"/>
                <a:cs typeface="Arial" pitchFamily="34" charset="-120"/>
              </a:rPr>
              <a:t>I'd been testing with dbt build by hand, which runs everything. The DAG only called run and test.</a:t>
            </a:r>
            <a:endParaRPr lang="en-US" sz="1200" dirty="0"/>
          </a:p>
        </p:txBody>
      </p:sp>
      <p:sp>
        <p:nvSpPr>
          <p:cNvPr id="12" name="Text 10"/>
          <p:cNvSpPr/>
          <p:nvPr/>
        </p:nvSpPr>
        <p:spPr>
          <a:xfrm>
            <a:off x="822960" y="3611880"/>
            <a:ext cx="548640" cy="256032"/>
          </a:xfrm>
          <a:prstGeom prst="rect">
            <a:avLst/>
          </a:prstGeom>
          <a:noFill/>
          <a:ln/>
        </p:spPr>
        <p:txBody>
          <a:bodyPr wrap="square" lIns="0" tIns="0" rIns="0" bIns="0" rtlCol="0" anchor="ctr"/>
          <a:lstStyle/>
          <a:p>
            <a:pPr indent="0" marL="0">
              <a:buNone/>
            </a:pPr>
            <a:r>
              <a:rPr lang="en-US" sz="1100" dirty="0">
                <a:solidFill>
                  <a:srgbClr val="E8913A"/>
                </a:solidFill>
                <a:latin typeface="Courier New" pitchFamily="34" charset="0"/>
                <a:ea typeface="Courier New" pitchFamily="34" charset="-122"/>
                <a:cs typeface="Courier New" pitchFamily="34" charset="-120"/>
              </a:rPr>
              <a:t>03</a:t>
            </a:r>
            <a:endParaRPr lang="en-US" sz="1100" dirty="0"/>
          </a:p>
        </p:txBody>
      </p:sp>
      <p:sp>
        <p:nvSpPr>
          <p:cNvPr id="13" name="Text 11"/>
          <p:cNvSpPr/>
          <p:nvPr/>
        </p:nvSpPr>
        <p:spPr>
          <a:xfrm>
            <a:off x="1371600" y="3593592"/>
            <a:ext cx="4434840" cy="292608"/>
          </a:xfrm>
          <a:prstGeom prst="rect">
            <a:avLst/>
          </a:prstGeom>
          <a:noFill/>
          <a:ln/>
        </p:spPr>
        <p:txBody>
          <a:bodyPr wrap="square" lIns="0" tIns="0" rIns="0" bIns="0" rtlCol="0" anchor="ctr"/>
          <a:lstStyle/>
          <a:p>
            <a:pPr indent="0" marL="0">
              <a:buNone/>
            </a:pPr>
            <a:r>
              <a:rPr lang="en-US" sz="1400" b="1" dirty="0">
                <a:solidFill>
                  <a:srgbClr val="EDEBE7"/>
                </a:solidFill>
                <a:latin typeface="Arial" pitchFamily="34" charset="0"/>
                <a:ea typeface="Arial" pitchFamily="34" charset="-122"/>
                <a:cs typeface="Arial" pitchFamily="34" charset="-120"/>
              </a:rPr>
              <a:t>An intermittent DuckDB lock</a:t>
            </a:r>
            <a:endParaRPr lang="en-US" sz="1400" dirty="0"/>
          </a:p>
        </p:txBody>
      </p:sp>
      <p:sp>
        <p:nvSpPr>
          <p:cNvPr id="14" name="Text 12"/>
          <p:cNvSpPr/>
          <p:nvPr/>
        </p:nvSpPr>
        <p:spPr>
          <a:xfrm>
            <a:off x="1371600" y="3922776"/>
            <a:ext cx="4434840" cy="640080"/>
          </a:xfrm>
          <a:prstGeom prst="rect">
            <a:avLst/>
          </a:prstGeom>
          <a:noFill/>
          <a:ln/>
        </p:spPr>
        <p:txBody>
          <a:bodyPr wrap="square" lIns="0" tIns="0" rIns="0" bIns="0" rtlCol="0" anchor="ctr"/>
          <a:lstStyle/>
          <a:p>
            <a:pPr indent="0" marL="0">
              <a:lnSpc>
                <a:spcPts val="1800"/>
              </a:lnSpc>
              <a:buNone/>
            </a:pPr>
            <a:r>
              <a:rPr lang="en-US" sz="1200" dirty="0">
                <a:solidFill>
                  <a:srgbClr val="9AA1A8"/>
                </a:solidFill>
                <a:latin typeface="Arial" pitchFamily="34" charset="0"/>
                <a:ea typeface="Arial" pitchFamily="34" charset="-122"/>
                <a:cs typeface="Arial" pitchFamily="34" charset="-120"/>
              </a:rPr>
              <a:t>A debug script left in dags/ was executed by the scheduler on every folder scan.</a:t>
            </a:r>
            <a:endParaRPr lang="en-US" sz="1200" dirty="0"/>
          </a:p>
        </p:txBody>
      </p:sp>
      <p:sp>
        <p:nvSpPr>
          <p:cNvPr id="15" name="Text 13"/>
          <p:cNvSpPr/>
          <p:nvPr/>
        </p:nvSpPr>
        <p:spPr>
          <a:xfrm>
            <a:off x="6355080" y="3611880"/>
            <a:ext cx="548640" cy="256032"/>
          </a:xfrm>
          <a:prstGeom prst="rect">
            <a:avLst/>
          </a:prstGeom>
          <a:noFill/>
          <a:ln/>
        </p:spPr>
        <p:txBody>
          <a:bodyPr wrap="square" lIns="0" tIns="0" rIns="0" bIns="0" rtlCol="0" anchor="ctr"/>
          <a:lstStyle/>
          <a:p>
            <a:pPr indent="0" marL="0">
              <a:buNone/>
            </a:pPr>
            <a:r>
              <a:rPr lang="en-US" sz="1100" dirty="0">
                <a:solidFill>
                  <a:srgbClr val="E8913A"/>
                </a:solidFill>
                <a:latin typeface="Courier New" pitchFamily="34" charset="0"/>
                <a:ea typeface="Courier New" pitchFamily="34" charset="-122"/>
                <a:cs typeface="Courier New" pitchFamily="34" charset="-120"/>
              </a:rPr>
              <a:t>04</a:t>
            </a:r>
            <a:endParaRPr lang="en-US" sz="1100" dirty="0"/>
          </a:p>
        </p:txBody>
      </p:sp>
      <p:sp>
        <p:nvSpPr>
          <p:cNvPr id="16" name="Text 14"/>
          <p:cNvSpPr/>
          <p:nvPr/>
        </p:nvSpPr>
        <p:spPr>
          <a:xfrm>
            <a:off x="6903720" y="3593592"/>
            <a:ext cx="4434840" cy="292608"/>
          </a:xfrm>
          <a:prstGeom prst="rect">
            <a:avLst/>
          </a:prstGeom>
          <a:noFill/>
          <a:ln/>
        </p:spPr>
        <p:txBody>
          <a:bodyPr wrap="square" lIns="0" tIns="0" rIns="0" bIns="0" rtlCol="0" anchor="ctr"/>
          <a:lstStyle/>
          <a:p>
            <a:pPr indent="0" marL="0">
              <a:buNone/>
            </a:pPr>
            <a:r>
              <a:rPr lang="en-US" sz="1400" b="1" dirty="0">
                <a:solidFill>
                  <a:srgbClr val="EDEBE7"/>
                </a:solidFill>
                <a:latin typeface="Arial" pitchFamily="34" charset="0"/>
                <a:ea typeface="Arial" pitchFamily="34" charset="-122"/>
                <a:cs typeface="Arial" pitchFamily="34" charset="-120"/>
              </a:rPr>
              <a:t>Two request types skewed two marts</a:t>
            </a:r>
            <a:endParaRPr lang="en-US" sz="1400" dirty="0"/>
          </a:p>
        </p:txBody>
      </p:sp>
      <p:sp>
        <p:nvSpPr>
          <p:cNvPr id="17" name="Text 15"/>
          <p:cNvSpPr/>
          <p:nvPr/>
        </p:nvSpPr>
        <p:spPr>
          <a:xfrm>
            <a:off x="6903720" y="3922776"/>
            <a:ext cx="4434840" cy="640080"/>
          </a:xfrm>
          <a:prstGeom prst="rect">
            <a:avLst/>
          </a:prstGeom>
          <a:noFill/>
          <a:ln/>
        </p:spPr>
        <p:txBody>
          <a:bodyPr wrap="square" lIns="0" tIns="0" rIns="0" bIns="0" rtlCol="0" anchor="ctr"/>
          <a:lstStyle/>
          <a:p>
            <a:pPr indent="0" marL="0">
              <a:lnSpc>
                <a:spcPts val="1800"/>
              </a:lnSpc>
              <a:buNone/>
            </a:pPr>
            <a:r>
              <a:rPr lang="en-US" sz="1200" dirty="0">
                <a:solidFill>
                  <a:srgbClr val="9AA1A8"/>
                </a:solidFill>
                <a:latin typeface="Arial" pitchFamily="34" charset="0"/>
                <a:ea typeface="Arial" pitchFamily="34" charset="-122"/>
                <a:cs typeface="Arial" pitchFamily="34" charset="-120"/>
              </a:rPr>
              <a:t>311IOC and AVN bucket onto 81 and 13 fixed addresses. Excluded, with the reason documented.</a:t>
            </a:r>
            <a:endParaRPr lang="en-US" sz="1200" dirty="0"/>
          </a:p>
        </p:txBody>
      </p:sp>
      <p:sp>
        <p:nvSpPr>
          <p:cNvPr id="18" name="Text 16"/>
          <p:cNvSpPr/>
          <p:nvPr/>
        </p:nvSpPr>
        <p:spPr>
          <a:xfrm>
            <a:off x="822960" y="4754880"/>
            <a:ext cx="548640" cy="256032"/>
          </a:xfrm>
          <a:prstGeom prst="rect">
            <a:avLst/>
          </a:prstGeom>
          <a:noFill/>
          <a:ln/>
        </p:spPr>
        <p:txBody>
          <a:bodyPr wrap="square" lIns="0" tIns="0" rIns="0" bIns="0" rtlCol="0" anchor="ctr"/>
          <a:lstStyle/>
          <a:p>
            <a:pPr indent="0" marL="0">
              <a:buNone/>
            </a:pPr>
            <a:r>
              <a:rPr lang="en-US" sz="1100" dirty="0">
                <a:solidFill>
                  <a:srgbClr val="E8913A"/>
                </a:solidFill>
                <a:latin typeface="Courier New" pitchFamily="34" charset="0"/>
                <a:ea typeface="Courier New" pitchFamily="34" charset="-122"/>
                <a:cs typeface="Courier New" pitchFamily="34" charset="-120"/>
              </a:rPr>
              <a:t>05</a:t>
            </a:r>
            <a:endParaRPr lang="en-US" sz="1100" dirty="0"/>
          </a:p>
        </p:txBody>
      </p:sp>
      <p:sp>
        <p:nvSpPr>
          <p:cNvPr id="19" name="Text 17"/>
          <p:cNvSpPr/>
          <p:nvPr/>
        </p:nvSpPr>
        <p:spPr>
          <a:xfrm>
            <a:off x="1371600" y="4736592"/>
            <a:ext cx="4434840" cy="292608"/>
          </a:xfrm>
          <a:prstGeom prst="rect">
            <a:avLst/>
          </a:prstGeom>
          <a:noFill/>
          <a:ln/>
        </p:spPr>
        <p:txBody>
          <a:bodyPr wrap="square" lIns="0" tIns="0" rIns="0" bIns="0" rtlCol="0" anchor="ctr"/>
          <a:lstStyle/>
          <a:p>
            <a:pPr indent="0" marL="0">
              <a:buNone/>
            </a:pPr>
            <a:r>
              <a:rPr lang="en-US" sz="1400" b="1" dirty="0">
                <a:solidFill>
                  <a:srgbClr val="EDEBE7"/>
                </a:solidFill>
                <a:latin typeface="Arial" pitchFamily="34" charset="0"/>
                <a:ea typeface="Arial" pitchFamily="34" charset="-122"/>
                <a:cs typeface="Arial" pitchFamily="34" charset="-120"/>
              </a:rPr>
              <a:t>Containers reinstalled dbt every start</a:t>
            </a:r>
            <a:endParaRPr lang="en-US" sz="1400" dirty="0"/>
          </a:p>
        </p:txBody>
      </p:sp>
      <p:sp>
        <p:nvSpPr>
          <p:cNvPr id="20" name="Text 18"/>
          <p:cNvSpPr/>
          <p:nvPr/>
        </p:nvSpPr>
        <p:spPr>
          <a:xfrm>
            <a:off x="1371600" y="5065776"/>
            <a:ext cx="4434840" cy="640080"/>
          </a:xfrm>
          <a:prstGeom prst="rect">
            <a:avLst/>
          </a:prstGeom>
          <a:noFill/>
          <a:ln/>
        </p:spPr>
        <p:txBody>
          <a:bodyPr wrap="square" lIns="0" tIns="0" rIns="0" bIns="0" rtlCol="0" anchor="ctr"/>
          <a:lstStyle/>
          <a:p>
            <a:pPr indent="0" marL="0">
              <a:lnSpc>
                <a:spcPts val="1800"/>
              </a:lnSpc>
              <a:buNone/>
            </a:pPr>
            <a:r>
              <a:rPr lang="en-US" sz="1200" dirty="0">
                <a:solidFill>
                  <a:srgbClr val="9AA1A8"/>
                </a:solidFill>
                <a:latin typeface="Arial" pitchFamily="34" charset="0"/>
                <a:ea typeface="Arial" pitchFamily="34" charset="-122"/>
                <a:cs typeface="Arial" pitchFamily="34" charset="-120"/>
              </a:rPr>
              <a:t>_PIP_ADDITIONAL_REQUIREMENTS refetched the same packages on every boot. Moved into a Dockerfile.</a:t>
            </a:r>
            <a:endParaRPr lang="en-US" sz="1200" dirty="0"/>
          </a:p>
        </p:txBody>
      </p:sp>
      <p:sp>
        <p:nvSpPr>
          <p:cNvPr id="21" name="Text 19"/>
          <p:cNvSpPr/>
          <p:nvPr/>
        </p:nvSpPr>
        <p:spPr>
          <a:xfrm>
            <a:off x="6355080" y="4754880"/>
            <a:ext cx="548640" cy="256032"/>
          </a:xfrm>
          <a:prstGeom prst="rect">
            <a:avLst/>
          </a:prstGeom>
          <a:noFill/>
          <a:ln/>
        </p:spPr>
        <p:txBody>
          <a:bodyPr wrap="square" lIns="0" tIns="0" rIns="0" bIns="0" rtlCol="0" anchor="ctr"/>
          <a:lstStyle/>
          <a:p>
            <a:pPr indent="0" marL="0">
              <a:buNone/>
            </a:pPr>
            <a:r>
              <a:rPr lang="en-US" sz="1100" dirty="0">
                <a:solidFill>
                  <a:srgbClr val="E8913A"/>
                </a:solidFill>
                <a:latin typeface="Courier New" pitchFamily="34" charset="0"/>
                <a:ea typeface="Courier New" pitchFamily="34" charset="-122"/>
                <a:cs typeface="Courier New" pitchFamily="34" charset="-120"/>
              </a:rPr>
              <a:t>06</a:t>
            </a:r>
            <a:endParaRPr lang="en-US" sz="1100" dirty="0"/>
          </a:p>
        </p:txBody>
      </p:sp>
      <p:sp>
        <p:nvSpPr>
          <p:cNvPr id="22" name="Text 20"/>
          <p:cNvSpPr/>
          <p:nvPr/>
        </p:nvSpPr>
        <p:spPr>
          <a:xfrm>
            <a:off x="6903720" y="4736592"/>
            <a:ext cx="4434840" cy="292608"/>
          </a:xfrm>
          <a:prstGeom prst="rect">
            <a:avLst/>
          </a:prstGeom>
          <a:noFill/>
          <a:ln/>
        </p:spPr>
        <p:txBody>
          <a:bodyPr wrap="square" lIns="0" tIns="0" rIns="0" bIns="0" rtlCol="0" anchor="ctr"/>
          <a:lstStyle/>
          <a:p>
            <a:pPr indent="0" marL="0">
              <a:buNone/>
            </a:pPr>
            <a:r>
              <a:rPr lang="en-US" sz="1400" b="1" dirty="0">
                <a:solidFill>
                  <a:srgbClr val="EDEBE7"/>
                </a:solidFill>
                <a:latin typeface="Arial" pitchFamily="34" charset="0"/>
                <a:ea typeface="Arial" pitchFamily="34" charset="-122"/>
                <a:cs typeface="Arial" pitchFamily="34" charset="-120"/>
              </a:rPr>
              <a:t>A five-minute self-join</a:t>
            </a:r>
            <a:endParaRPr lang="en-US" sz="1400" dirty="0"/>
          </a:p>
        </p:txBody>
      </p:sp>
      <p:sp>
        <p:nvSpPr>
          <p:cNvPr id="23" name="Text 21"/>
          <p:cNvSpPr/>
          <p:nvPr/>
        </p:nvSpPr>
        <p:spPr>
          <a:xfrm>
            <a:off x="6903720" y="5065776"/>
            <a:ext cx="4434840" cy="640080"/>
          </a:xfrm>
          <a:prstGeom prst="rect">
            <a:avLst/>
          </a:prstGeom>
          <a:noFill/>
          <a:ln/>
        </p:spPr>
        <p:txBody>
          <a:bodyPr wrap="square" lIns="0" tIns="0" rIns="0" bIns="0" rtlCol="0" anchor="ctr"/>
          <a:lstStyle/>
          <a:p>
            <a:pPr indent="0" marL="0">
              <a:lnSpc>
                <a:spcPts val="1800"/>
              </a:lnSpc>
              <a:buNone/>
            </a:pPr>
            <a:r>
              <a:rPr lang="en-US" sz="1200" dirty="0">
                <a:solidFill>
                  <a:srgbClr val="9AA1A8"/>
                </a:solidFill>
                <a:latin typeface="Arial" pitchFamily="34" charset="0"/>
                <a:ea typeface="Arial" pitchFamily="34" charset="-122"/>
                <a:cs typeface="Arial" pitchFamily="34" charset="-120"/>
              </a:rPr>
              <a:t>No index to prune the date-range condition. One LAG() replaced it — same answer, two seconds.</a:t>
            </a:r>
            <a:endParaRPr lang="en-US" sz="1200" dirty="0"/>
          </a:p>
        </p:txBody>
      </p:sp>
      <p:sp>
        <p:nvSpPr>
          <p:cNvPr id="24" name="Shape 22"/>
          <p:cNvSpPr/>
          <p:nvPr/>
        </p:nvSpPr>
        <p:spPr>
          <a:xfrm>
            <a:off x="822960" y="5742432"/>
            <a:ext cx="10515600" cy="0"/>
          </a:xfrm>
          <a:prstGeom prst="line">
            <a:avLst/>
          </a:prstGeom>
          <a:noFill/>
          <a:ln w="12700">
            <a:solidFill>
              <a:srgbClr val="2E343C"/>
            </a:solidFill>
            <a:prstDash val="solid"/>
          </a:ln>
        </p:spPr>
      </p:sp>
      <p:sp>
        <p:nvSpPr>
          <p:cNvPr id="25" name="Text 23"/>
          <p:cNvSpPr/>
          <p:nvPr/>
        </p:nvSpPr>
        <p:spPr>
          <a:xfrm>
            <a:off x="822960" y="5907024"/>
            <a:ext cx="10515600" cy="310896"/>
          </a:xfrm>
          <a:prstGeom prst="rect">
            <a:avLst/>
          </a:prstGeom>
          <a:noFill/>
          <a:ln/>
        </p:spPr>
        <p:txBody>
          <a:bodyPr wrap="square" lIns="0" tIns="0" rIns="0" bIns="0" rtlCol="0" anchor="ctr"/>
          <a:lstStyle/>
          <a:p>
            <a:pPr indent="0" marL="0">
              <a:buNone/>
            </a:pPr>
            <a:r>
              <a:rPr lang="en-US" sz="1200" b="1" dirty="0">
                <a:solidFill>
                  <a:srgbClr val="EDEBE7"/>
                </a:solidFill>
                <a:latin typeface="Arial" pitchFamily="34" charset="0"/>
                <a:ea typeface="Arial" pitchFamily="34" charset="-122"/>
                <a:cs typeface="Arial" pitchFamily="34" charset="-120"/>
              </a:rPr>
              <a:t>Runs from scratch:  </a:t>
            </a:r>
            <a:pPr indent="0" marL="0">
              <a:buNone/>
            </a:pPr>
            <a:r>
              <a:rPr lang="en-US" sz="1200" dirty="0">
                <a:solidFill>
                  <a:srgbClr val="9AA1A8"/>
                </a:solidFill>
                <a:latin typeface="Courier New" pitchFamily="34" charset="0"/>
                <a:ea typeface="Courier New" pitchFamily="34" charset="-122"/>
                <a:cs typeface="Courier New" pitchFamily="34" charset="-120"/>
              </a:rPr>
              <a:t>docker-compose build → up -d → trigger the DAG → backfill_dim_ward.py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Chicago 311 Pipeline</dc:title>
  <dc:subject>PptxGenJS Presentation</dc:subject>
  <dc:creator>Data Engineering internship — final project</dc:creator>
  <cp:lastModifiedBy>Data Engineering internship — final project</cp:lastModifiedBy>
  <cp:revision>1</cp:revision>
  <dcterms:created xsi:type="dcterms:W3CDTF">2026-08-25T20:04:02Z</dcterms:created>
  <dcterms:modified xsi:type="dcterms:W3CDTF">2026-08-25T20:04:02Z</dcterms:modified>
</cp:coreProperties>
</file>